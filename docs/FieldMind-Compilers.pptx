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6"/>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Speech is transcribed on the device. The preview shows what will be shared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5"/>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5"/>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106</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and in production on two arm64 servers with Qdrant Cloud.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Dictation transcribed on the device (Whisper)</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Private text sealed on disk</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Devices learn from each other when the cloud is gone</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Photos searchable by what they show</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Encrypted backup, shift report, one-click conflict</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Installable on a phone; Hindi optional</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714"/>
        </a:solidFill>
        <a:effectLst/>
      </p:bgPr>
    </p:bg>
    <p:spTree>
      <p:nvGrpSpPr>
        <p:cNvPr id="1" name=""/>
        <p:cNvGrpSpPr/>
        <p:nvPr/>
      </p:nvGrpSpPr>
      <p:grpSpPr/>
      <p:sp>
        <p:nvSpPr>
          <p:cNvPr id="2" name="TextBox 1"/>
          <p:cNvSpPr txBox="1"/>
          <p:nvPr/>
        </p:nvSpPr>
        <p:spPr>
          <a:xfrm>
            <a:off x="640080" y="548640"/>
            <a:ext cx="10881360" cy="822960"/>
          </a:xfrm>
          <a:prstGeom prst="rect">
            <a:avLst/>
          </a:prstGeom>
          <a:noFill/>
        </p:spPr>
        <p:txBody>
          <a:bodyPr wrap="square">
            <a:spAutoFit/>
          </a:bodyPr>
          <a:lstStyle/>
          <a:p>
            <a:r>
              <a:rPr sz="3600" b="1">
                <a:solidFill>
                  <a:srgbClr val="FFFFFF"/>
                </a:solidFill>
                <a:latin typeface="Arial"/>
              </a:rPr>
              <a:t>Try it live</a:t>
            </a:r>
          </a:p>
        </p:txBody>
      </p:sp>
      <p:sp>
        <p:nvSpPr>
          <p:cNvPr id="3" name="Rounded Rectangle 2"/>
          <p:cNvSpPr/>
          <p:nvPr/>
        </p:nvSpPr>
        <p:spPr>
          <a:xfrm>
            <a:off x="64008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r-edge-a.png"/>
          <p:cNvPicPr>
            <a:picLocks noChangeAspect="1"/>
          </p:cNvPicPr>
          <p:nvPr/>
        </p:nvPicPr>
        <p:blipFill>
          <a:blip r:embed="rId2"/>
          <a:stretch>
            <a:fillRect/>
          </a:stretch>
        </p:blipFill>
        <p:spPr>
          <a:xfrm>
            <a:off x="868680" y="1965960"/>
            <a:ext cx="2286000" cy="2286000"/>
          </a:xfrm>
          <a:prstGeom prst="rect">
            <a:avLst/>
          </a:prstGeom>
        </p:spPr>
      </p:pic>
      <p:sp>
        <p:nvSpPr>
          <p:cNvPr id="5" name="TextBox 4"/>
          <p:cNvSpPr txBox="1"/>
          <p:nvPr/>
        </p:nvSpPr>
        <p:spPr>
          <a:xfrm>
            <a:off x="3291840" y="1920240"/>
            <a:ext cx="2560320" cy="365760"/>
          </a:xfrm>
          <a:prstGeom prst="rect">
            <a:avLst/>
          </a:prstGeom>
          <a:noFill/>
        </p:spPr>
        <p:txBody>
          <a:bodyPr wrap="square">
            <a:spAutoFit/>
          </a:bodyPr>
          <a:lstStyle/>
          <a:p>
            <a:r>
              <a:rPr sz="1200" b="1">
                <a:solidFill>
                  <a:srgbClr val="F29A4A"/>
                </a:solidFill>
                <a:latin typeface="Courier New"/>
              </a:rPr>
              <a:t>LIVE DEVICE</a:t>
            </a:r>
          </a:p>
        </p:txBody>
      </p:sp>
      <p:sp>
        <p:nvSpPr>
          <p:cNvPr id="6" name="TextBox 5"/>
          <p:cNvSpPr txBox="1"/>
          <p:nvPr/>
        </p:nvSpPr>
        <p:spPr>
          <a:xfrm>
            <a:off x="3291840" y="2286000"/>
            <a:ext cx="2560320" cy="731520"/>
          </a:xfrm>
          <a:prstGeom prst="rect">
            <a:avLst/>
          </a:prstGeom>
          <a:noFill/>
        </p:spPr>
        <p:txBody>
          <a:bodyPr wrap="square">
            <a:spAutoFit/>
          </a:bodyPr>
          <a:lstStyle/>
          <a:p>
            <a:r>
              <a:rPr sz="1600" b="1">
                <a:solidFill>
                  <a:srgbClr val="FFFFFF"/>
                </a:solidFill>
                <a:latin typeface="Arial"/>
              </a:rPr>
              <a:t>fieldmindedgea.hidenplay.net</a:t>
            </a:r>
          </a:p>
        </p:txBody>
      </p:sp>
      <p:sp>
        <p:nvSpPr>
          <p:cNvPr id="7" name="TextBox 6"/>
          <p:cNvSpPr txBox="1"/>
          <p:nvPr/>
        </p:nvSpPr>
        <p:spPr>
          <a:xfrm>
            <a:off x="3291840" y="2926080"/>
            <a:ext cx="2560320" cy="1463040"/>
          </a:xfrm>
          <a:prstGeom prst="rect">
            <a:avLst/>
          </a:prstGeom>
          <a:noFill/>
        </p:spPr>
        <p:txBody>
          <a:bodyPr wrap="square">
            <a:spAutoFit/>
          </a:bodyPr>
          <a:lstStyle/>
          <a:p>
            <a:r>
              <a:rPr sz="1300" b="0">
                <a:solidFill>
                  <a:srgbClr val="BDBBB0"/>
                </a:solidFill>
                <a:latin typeface="Calibri"/>
              </a:rPr>
              <a:t>edge-a, running 24/7 on an arm64 server with Qdrant Cloud. Ask us for the PIN, then click Demo guide. A second device, edge-b, syncs with it.</a:t>
            </a:r>
          </a:p>
        </p:txBody>
      </p:sp>
      <p:sp>
        <p:nvSpPr>
          <p:cNvPr id="8" name="Rounded Rectangle 7"/>
          <p:cNvSpPr/>
          <p:nvPr/>
        </p:nvSpPr>
        <p:spPr>
          <a:xfrm>
            <a:off x="6217920" y="1737360"/>
            <a:ext cx="5303520" cy="274320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repo.png"/>
          <p:cNvPicPr>
            <a:picLocks noChangeAspect="1"/>
          </p:cNvPicPr>
          <p:nvPr/>
        </p:nvPicPr>
        <p:blipFill>
          <a:blip r:embed="rId3"/>
          <a:stretch>
            <a:fillRect/>
          </a:stretch>
        </p:blipFill>
        <p:spPr>
          <a:xfrm>
            <a:off x="6446520" y="1965960"/>
            <a:ext cx="2286000" cy="2286000"/>
          </a:xfrm>
          <a:prstGeom prst="rect">
            <a:avLst/>
          </a:prstGeom>
        </p:spPr>
      </p:pic>
      <p:sp>
        <p:nvSpPr>
          <p:cNvPr id="10" name="TextBox 9"/>
          <p:cNvSpPr txBox="1"/>
          <p:nvPr/>
        </p:nvSpPr>
        <p:spPr>
          <a:xfrm>
            <a:off x="8869680" y="1920240"/>
            <a:ext cx="2560320" cy="365760"/>
          </a:xfrm>
          <a:prstGeom prst="rect">
            <a:avLst/>
          </a:prstGeom>
          <a:noFill/>
        </p:spPr>
        <p:txBody>
          <a:bodyPr wrap="square">
            <a:spAutoFit/>
          </a:bodyPr>
          <a:lstStyle/>
          <a:p>
            <a:r>
              <a:rPr sz="1200" b="1">
                <a:solidFill>
                  <a:srgbClr val="F29A4A"/>
                </a:solidFill>
                <a:latin typeface="Courier New"/>
              </a:rPr>
              <a:t>CODE AND TESTS</a:t>
            </a:r>
          </a:p>
        </p:txBody>
      </p:sp>
      <p:sp>
        <p:nvSpPr>
          <p:cNvPr id="11" name="TextBox 10"/>
          <p:cNvSpPr txBox="1"/>
          <p:nvPr/>
        </p:nvSpPr>
        <p:spPr>
          <a:xfrm>
            <a:off x="8869680" y="2286000"/>
            <a:ext cx="2560320" cy="731520"/>
          </a:xfrm>
          <a:prstGeom prst="rect">
            <a:avLst/>
          </a:prstGeom>
          <a:noFill/>
        </p:spPr>
        <p:txBody>
          <a:bodyPr wrap="square">
            <a:spAutoFit/>
          </a:bodyPr>
          <a:lstStyle/>
          <a:p>
            <a:r>
              <a:rPr sz="1600" b="1">
                <a:solidFill>
                  <a:srgbClr val="FFFFFF"/>
                </a:solidFill>
                <a:latin typeface="Arial"/>
              </a:rPr>
              <a:t>github.com/yabhinav1/fieldmind</a:t>
            </a:r>
          </a:p>
        </p:txBody>
      </p:sp>
      <p:sp>
        <p:nvSpPr>
          <p:cNvPr id="12" name="TextBox 11"/>
          <p:cNvSpPr txBox="1"/>
          <p:nvPr/>
        </p:nvSpPr>
        <p:spPr>
          <a:xfrm>
            <a:off x="8869680" y="2926080"/>
            <a:ext cx="2560320" cy="1463040"/>
          </a:xfrm>
          <a:prstGeom prst="rect">
            <a:avLst/>
          </a:prstGeom>
          <a:noFill/>
        </p:spPr>
        <p:txBody>
          <a:bodyPr wrap="square">
            <a:spAutoFit/>
          </a:bodyPr>
          <a:lstStyle/>
          <a:p>
            <a:r>
              <a:rPr sz="1300" b="0">
                <a:solidFill>
                  <a:srgbClr val="BDBBB0"/>
                </a:solidFill>
                <a:latin typeface="Calibri"/>
              </a:rPr>
              <a:t>MIT. 106 tests on every push against a real Qdrant Server and a real browser. docker compose --profile demo up runs it on any laptop.</a:t>
            </a:r>
          </a:p>
        </p:txBody>
      </p:sp>
      <p:sp>
        <p:nvSpPr>
          <p:cNvPr id="13" name="Rounded Rectangle 12"/>
          <p:cNvSpPr/>
          <p:nvPr/>
        </p:nvSpPr>
        <p:spPr>
          <a:xfrm>
            <a:off x="640080" y="4754880"/>
            <a:ext cx="10881360" cy="1188720"/>
          </a:xfrm>
          <a:prstGeom prst="roundRect">
            <a:avLst>
              <a:gd name="adj" fmla="val 8000"/>
            </a:avLst>
          </a:prstGeom>
          <a:solidFill>
            <a:srgbClr val="1E201C"/>
          </a:solidFill>
          <a:ln w="12700">
            <a:solidFill>
              <a:srgbClr val="2E3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10332720" cy="365760"/>
          </a:xfrm>
          <a:prstGeom prst="rect">
            <a:avLst/>
          </a:prstGeom>
          <a:noFill/>
        </p:spPr>
        <p:txBody>
          <a:bodyPr wrap="square">
            <a:spAutoFit/>
          </a:bodyPr>
          <a:lstStyle/>
          <a:p>
            <a:r>
              <a:rPr sz="1200" b="1">
                <a:solidFill>
                  <a:srgbClr val="F29A4A"/>
                </a:solidFill>
                <a:latin typeface="Courier New"/>
              </a:rPr>
              <a:t>FIVE THINGS TO TRY IN TWO MINUTES</a:t>
            </a:r>
          </a:p>
        </p:txBody>
      </p:sp>
      <p:sp>
        <p:nvSpPr>
          <p:cNvPr id="15" name="TextBox 14"/>
          <p:cNvSpPr txBox="1"/>
          <p:nvPr/>
        </p:nvSpPr>
        <p:spPr>
          <a:xfrm>
            <a:off x="914400" y="5212080"/>
            <a:ext cx="10332720" cy="731520"/>
          </a:xfrm>
          <a:prstGeom prst="rect">
            <a:avLst/>
          </a:prstGeom>
          <a:noFill/>
        </p:spPr>
        <p:txBody>
          <a:bodyPr wrap="square">
            <a:spAutoFit/>
          </a:bodyPr>
          <a:lstStyle/>
          <a:p>
            <a:r>
              <a:rPr sz="1400" b="0">
                <a:solidFill>
                  <a:srgbClr val="ECEBE4"/>
                </a:solidFill>
                <a:latin typeface="Calibri"/>
              </a:rPr>
              <a:t>Network switch off, keep working  ·  Dictate a note  ·  Ask “is a vibration of 7.2 mm/s acceptable”  ·  Type a note with a name and a phone number, watch the preview mask them  ·  Demo guide → Stage a conflict, then decide</a:t>
            </a:r>
          </a:p>
        </p:txBody>
      </p:sp>
      <p:sp>
        <p:nvSpPr>
          <p:cNvPr id="16" name="TextBox 15"/>
          <p:cNvSpPr txBox="1"/>
          <p:nvPr/>
        </p:nvSpPr>
        <p:spPr>
          <a:xfrm>
            <a:off x="640080" y="6217920"/>
            <a:ext cx="8229600" cy="274320"/>
          </a:xfrm>
          <a:prstGeom prst="rect">
            <a:avLst/>
          </a:prstGeom>
          <a:noFill/>
        </p:spPr>
        <p:txBody>
          <a:bodyPr wrap="square">
            <a:spAutoFit/>
          </a:bodyPr>
          <a:lstStyle/>
          <a:p>
            <a:r>
              <a:rPr sz="1200" b="0">
                <a:solidFill>
                  <a:srgbClr val="9C998D"/>
                </a:solidFill>
                <a:latin typeface="Courier New"/>
              </a:rPr>
              <a:t>Team Compilers  ·  Problem statement 03  ·  Qdrant Edge</a:t>
            </a:r>
          </a:p>
        </p:txBody>
      </p:sp>
      <p:sp>
        <p:nvSpPr>
          <p:cNvPr id="17" name="TextBox 16"/>
          <p:cNvSpPr txBox="1"/>
          <p:nvPr/>
        </p:nvSpPr>
        <p:spPr>
          <a:xfrm>
            <a:off x="10607040" y="6309360"/>
            <a:ext cx="914400" cy="274320"/>
          </a:xfrm>
          <a:prstGeom prst="rect">
            <a:avLst/>
          </a:prstGeom>
          <a:noFill/>
        </p:spPr>
        <p:txBody>
          <a:bodyPr wrap="square">
            <a:spAutoFit/>
          </a:bodyPr>
          <a:lstStyle/>
          <a:p>
            <a:r>
              <a:rPr sz="1100" b="0">
                <a:solidFill>
                  <a:srgbClr val="9C998D"/>
                </a:solidFill>
                <a:latin typeface="Courier New"/>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