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6"/>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FieldMind is an offline-first memory for people who work where the network is unreliable. It runs on Qdrant Edge, syncs with Qdrant Server, and decides on the device what may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make this hard. The network is not there when the knowledge is created. A single note mixes what should be shared with what should not. And devices that work offline disagree when they reconnect. A local vector database alone solves none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dashboard with the network switched off. On the left, a note is being typed and the device shows that two details will be masked in the cloud copy. On the right, a question is answered from a headquarters manual that was downloaded earlier, with zero network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Qdrant Edge runs inside the app, so there is no database server on the device. We keep two shards. The local shard holds what this device wrote, including everything private. The replica shard is a disposable copy of cloud knowledge that can be rebuilt at any time without touching a private note. Uploads are compare-and-swap writes. Downloads use a small diff, or a full shard snapshot when the device is far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"dynamically decide what stays local". Every note gets one of three outcomes: private, shared, or shared with personal details masked. The third one matters most: the fleet still learns about the fault, and the original with the names stays on the device. We also embed the masked text, not the original, so the vector cannot leak what the text hides.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two technicians changed the same note about valve V-17 while both were offline. One said monitor until the weekend, the other said isolate it today. The second device to reconnect does not overwrite the first. It shows both versions and the text they started from, and a person chooses. Follow-up notes are handled separately: a note saying the bearing was replaced automatically supersedes the earlier fault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Qdrant on both sides, not just as a local store. On the device: two Edge shards, built-in BM25 and dense search. Between device and server: conditional upserts give us compare-and-swap without any server code of our own, and shard snapshots let a new or long-offline device catch up in one download, which we then trim to its own site and compact to one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was measured on the development laptop. Search takes about a millisecond across both shards. Deciding what may be shared takes about 20 milliseconds including name recognition. A generated answer takes one to three seconds once the model is loaded. The test suite runs two devices against a shared cloud, and a scripted end-to-end run checks 30 steps against a real Qdrant Server. A third device on Linux was tested by disconnecting its network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things to watch in the live demo. We are also clear about what is not done: notes are not encrypted on disk, the dashboard session runs over plain HTTP, and the name model is English only. Those are the next three pieces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2.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714"/>
        </a:solidFill>
      </p:bgPr>
    </p:bg>
    <p:spTree>
      <p:nvGrpSpPr>
        <p:cNvPr id="1" name=""/>
        <p:cNvGrpSpPr/>
        <p:nvPr/>
      </p:nvGrpSpPr>
      <p:grpSpPr>
        <a:xfrm>
          <a:off x="0" y="0"/>
          <a:ext cx="0" cy="0"/>
          <a:chOff x="0" y="0"/>
          <a:chExt cx="0" cy="0"/>
        </a:xfrm>
      </p:grpSpPr>
      <p:sp>
        <p:nvSpPr>
          <p:cNvPr id="2" name="Shape 0"/>
          <p:cNvSpPr/>
          <p:nvPr/>
        </p:nvSpPr>
        <p:spPr>
          <a:xfrm rot="5400000">
            <a:off x="8229600" y="1600200"/>
            <a:ext cx="3108960" cy="3108960"/>
          </a:xfrm>
          <a:prstGeom prst="hexagon">
            <a:avLst/>
          </a:prstGeom>
          <a:solidFill>
            <a:srgbClr val="161714"/>
          </a:solidFill>
          <a:ln w="63500">
            <a:solidFill>
              <a:srgbClr val="F29A4A"/>
            </a:solidFill>
            <a:prstDash val="solid"/>
          </a:ln>
        </p:spPr>
        <p:txBody>
          <a:bodyPr/>
          <a:p/>
        </p:txBody>
      </p:sp>
      <p:sp>
        <p:nvSpPr>
          <p:cNvPr id="3" name="Shape 1"/>
          <p:cNvSpPr/>
          <p:nvPr/>
        </p:nvSpPr>
        <p:spPr>
          <a:xfrm>
            <a:off x="9326880" y="2697480"/>
            <a:ext cx="914400" cy="914400"/>
          </a:xfrm>
          <a:prstGeom prst="ellipse">
            <a:avLst/>
          </a:prstGeom>
          <a:solidFill>
            <a:srgbClr val="F29A4A"/>
          </a:solidFill>
          <a:ln w="12700">
            <a:solidFill>
              <a:srgbClr val="F29A4A"/>
            </a:solidFill>
            <a:prstDash val="solid"/>
          </a:ln>
        </p:spPr>
        <p:txBody>
          <a:bodyPr/>
          <a:p/>
        </p:txBody>
      </p:sp>
      <p:sp>
        <p:nvSpPr>
          <p:cNvPr id="4" name="Text 2"/>
          <p:cNvSpPr txBox="1"/>
          <p:nvPr/>
        </p:nvSpPr>
        <p:spPr>
          <a:xfrm>
            <a:off x="640080" y="685800"/>
            <a:ext cx="7315200" cy="320040"/>
          </a:xfrm>
          <a:prstGeom prst="rect">
            <a:avLst/>
          </a:prstGeom>
          <a:noFill/>
          <a:ln/>
        </p:spPr>
        <p:txBody>
          <a:bodyPr wrap="square" lIns="0" tIns="0" rIns="0" bIns="0" rtlCol="0" anchor="t"/>
          <a:lstStyle/>
          <a:p>
            <a:pPr indent="0" marL="0">
              <a:buNone/>
            </a:pPr>
            <a:r>
              <a:rPr lang="en-US" sz="1300" spc="300" kern="0" dirty="0">
                <a:solidFill>
                  <a:srgbClr val="F29A4A"/>
                </a:solidFill>
                <a:latin typeface="Courier New" pitchFamily="34" charset="0"/>
                <a:ea typeface="Courier New" pitchFamily="34" charset="-122"/>
                <a:cs typeface="Courier New" pitchFamily="34" charset="-120"/>
              </a:rPr>
              <a:t>PROBLEM STATEMENT 03  ·  QDRANT EDGE</a:t>
            </a:r>
            <a:endParaRPr lang="en-US" sz="1300" dirty="0"/>
          </a:p>
        </p:txBody>
      </p:sp>
      <p:sp>
        <p:nvSpPr>
          <p:cNvPr id="5" name="Text 3"/>
          <p:cNvSpPr txBox="1"/>
          <p:nvPr/>
        </p:nvSpPr>
        <p:spPr>
          <a:xfrm>
            <a:off x="640080" y="1828800"/>
            <a:ext cx="7315200" cy="1371600"/>
          </a:xfrm>
          <a:prstGeom prst="rect">
            <a:avLst/>
          </a:prstGeom>
          <a:noFill/>
          <a:ln/>
        </p:spPr>
        <p:txBody>
          <a:bodyPr wrap="square" lIns="0" tIns="0" rIns="0" bIns="0" rtlCol="0" anchor="ctr"/>
          <a:lstStyle/>
          <a:p>
            <a:pPr indent="0" marL="0">
              <a:buNone/>
            </a:pPr>
            <a:r>
              <a:rPr lang="en-US" sz="8000" b="1" dirty="0">
                <a:solidFill>
                  <a:srgbClr val="FFFFFF"/>
                </a:solidFill>
                <a:latin typeface="Arial" pitchFamily="34" charset="0"/>
                <a:ea typeface="Arial" pitchFamily="34" charset="-122"/>
                <a:cs typeface="Arial" pitchFamily="34" charset="-120"/>
              </a:rPr>
              <a:t>FieldMind</a:t>
            </a:r>
            <a:endParaRPr lang="en-US" sz="8000" dirty="0"/>
          </a:p>
        </p:txBody>
      </p:sp>
      <p:sp>
        <p:nvSpPr>
          <p:cNvPr id="6" name="Text 4"/>
          <p:cNvSpPr txBox="1"/>
          <p:nvPr/>
        </p:nvSpPr>
        <p:spPr>
          <a:xfrm>
            <a:off x="640080" y="3429000"/>
            <a:ext cx="6949440" cy="1188720"/>
          </a:xfrm>
          <a:prstGeom prst="rect">
            <a:avLst/>
          </a:prstGeom>
          <a:noFill/>
          <a:ln/>
        </p:spPr>
        <p:txBody>
          <a:bodyPr wrap="square" lIns="0" tIns="0" rIns="0" bIns="0" rtlCol="0" anchor="t"/>
          <a:lstStyle/>
          <a:p>
            <a:pPr indent="0" marL="0">
              <a:buNone/>
            </a:pPr>
            <a:r>
              <a:rPr lang="en-US" sz="2400" dirty="0">
                <a:solidFill>
                  <a:srgbClr val="BDBBB0"/>
                </a:solidFill>
                <a:latin typeface="Calibri" pitchFamily="34" charset="0"/>
                <a:ea typeface="Calibri" pitchFamily="34" charset="-122"/>
                <a:cs typeface="Calibri" pitchFamily="34" charset="-120"/>
              </a:rPr>
              <a:t>Memory for field technicians that works with no network, and knows what it is allowed to share.</a:t>
            </a:r>
            <a:endParaRPr lang="en-US" sz="2400" dirty="0"/>
          </a:p>
        </p:txBody>
      </p:sp>
      <p:sp>
        <p:nvSpPr>
          <p:cNvPr id="7" name="Text 5"/>
          <p:cNvSpPr txBox="1"/>
          <p:nvPr/>
        </p:nvSpPr>
        <p:spPr>
          <a:xfrm>
            <a:off x="640080" y="5760720"/>
            <a:ext cx="45720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Team Compilers</a:t>
            </a:r>
            <a:endParaRPr lang="en-US" sz="2000" dirty="0"/>
          </a:p>
        </p:txBody>
      </p:sp>
      <p:sp>
        <p:nvSpPr>
          <p:cNvPr id="8" name="Text 6"/>
          <p:cNvSpPr txBox="1"/>
          <p:nvPr/>
        </p:nvSpPr>
        <p:spPr>
          <a:xfrm>
            <a:off x="6522415" y="5815584"/>
            <a:ext cx="5029200" cy="320040"/>
          </a:xfrm>
          <a:prstGeom prst="rect">
            <a:avLst/>
          </a:prstGeom>
          <a:noFill/>
          <a:ln/>
        </p:spPr>
        <p:txBody>
          <a:bodyPr wrap="square" lIns="0" tIns="0" rIns="0" bIns="0" rtlCol="0" anchor="ctr"/>
          <a:lstStyle/>
          <a:p>
            <a:pPr algn="r" indent="0" marL="0">
              <a:buNone/>
            </a:pPr>
            <a:r>
              <a:rPr lang="en-US" sz="1300" dirty="0">
                <a:solidFill>
                  <a:srgbClr val="9C998D"/>
                </a:solidFill>
                <a:latin typeface="Courier New" pitchFamily="34" charset="0"/>
                <a:ea typeface="Courier New" pitchFamily="34" charset="-122"/>
                <a:cs typeface="Courier New" pitchFamily="34" charset="-120"/>
              </a:rPr>
              <a:t>github.com/yabhinav1/fieldmind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1325880"/>
          </a:xfrm>
          <a:prstGeom prst="rect">
            <a:avLst/>
          </a:prstGeom>
          <a:noFill/>
          <a:ln/>
        </p:spPr>
        <p:txBody>
          <a:bodyPr wrap="square" lIns="0" tIns="0" rIns="0" bIns="0" rtlCol="0" anchor="ctr"/>
          <a:lstStyle/>
          <a:p>
            <a:pPr indent="0" marL="0">
              <a:buNone/>
            </a:pPr>
            <a:r>
              <a:rPr lang="en-US" sz="3600" b="1" dirty="0">
                <a:solidFill>
                  <a:srgbClr val="1C1B18"/>
                </a:solidFill>
                <a:latin typeface="Arial" pitchFamily="34" charset="0"/>
                <a:ea typeface="Arial" pitchFamily="34" charset="-122"/>
                <a:cs typeface="Arial" pitchFamily="34" charset="-120"/>
              </a:rPr>
              <a:t>The most useful field knowledge is created where the network is worst</a:t>
            </a:r>
            <a:endParaRPr lang="en-US" sz="3600" dirty="0"/>
          </a:p>
        </p:txBody>
      </p:sp>
      <p:sp>
        <p:nvSpPr>
          <p:cNvPr id="3" name="Shape 1"/>
          <p:cNvSpPr/>
          <p:nvPr/>
        </p:nvSpPr>
        <p:spPr>
          <a:xfrm>
            <a:off x="640080" y="2423160"/>
            <a:ext cx="3419856" cy="3200400"/>
          </a:xfrm>
          <a:prstGeom prst="roundRect">
            <a:avLst>
              <a:gd name="adj" fmla="val 3429"/>
            </a:avLst>
          </a:prstGeom>
          <a:solidFill>
            <a:srgbClr val="F3F4F2"/>
          </a:solidFill>
          <a:ln w="12700">
            <a:solidFill>
              <a:srgbClr val="F3F4F2"/>
            </a:solidFill>
            <a:prstDash val="solid"/>
          </a:ln>
        </p:spPr>
        <p:txBody>
          <a:bodyPr/>
          <a:p/>
        </p:txBody>
      </p:sp>
      <p:sp>
        <p:nvSpPr>
          <p:cNvPr id="4" name="Shape 2"/>
          <p:cNvSpPr/>
          <p:nvPr/>
        </p:nvSpPr>
        <p:spPr>
          <a:xfrm>
            <a:off x="1005840" y="2788920"/>
            <a:ext cx="548640" cy="548640"/>
          </a:xfrm>
          <a:prstGeom prst="ellipse">
            <a:avLst/>
          </a:prstGeom>
          <a:solidFill>
            <a:srgbClr val="C2410C"/>
          </a:solidFill>
          <a:ln w="12700">
            <a:solidFill>
              <a:srgbClr val="C2410C"/>
            </a:solidFill>
            <a:prstDash val="solid"/>
          </a:ln>
        </p:spPr>
        <p:txBody>
          <a:bodyPr/>
          <a:p/>
        </p:txBody>
      </p:sp>
      <p:sp>
        <p:nvSpPr>
          <p:cNvPr id="5" name="Text 3"/>
          <p:cNvSpPr txBox="1"/>
          <p:nvPr/>
        </p:nvSpPr>
        <p:spPr>
          <a:xfrm>
            <a:off x="1005840" y="2788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005840" y="3611880"/>
            <a:ext cx="2688336" cy="411480"/>
          </a:xfrm>
          <a:prstGeom prst="rect">
            <a:avLst/>
          </a:prstGeom>
          <a:noFill/>
          <a:ln/>
        </p:spPr>
        <p:txBody>
          <a:bodyPr wrap="square" lIns="0" tIns="0" rIns="0" bIns="0" rtlCol="0" anchor="ctr"/>
          <a:lstStyle/>
          <a:p>
            <a:pPr indent="0" marL="0">
              <a:buNone/>
            </a:pPr>
            <a:r>
              <a:rPr lang="en-US" sz="2200" b="1" dirty="0">
                <a:solidFill>
                  <a:srgbClr val="1C1B18"/>
                </a:solidFill>
                <a:latin typeface="Arial" pitchFamily="34" charset="0"/>
                <a:ea typeface="Arial" pitchFamily="34" charset="-122"/>
                <a:cs typeface="Arial" pitchFamily="34" charset="-120"/>
              </a:rPr>
              <a:t>No signal</a:t>
            </a:r>
            <a:endParaRPr lang="en-US" sz="2200" dirty="0"/>
          </a:p>
        </p:txBody>
      </p:sp>
      <p:sp>
        <p:nvSpPr>
          <p:cNvPr id="7" name="Text 5"/>
          <p:cNvSpPr txBox="1"/>
          <p:nvPr/>
        </p:nvSpPr>
        <p:spPr>
          <a:xfrm>
            <a:off x="1005840" y="4160520"/>
            <a:ext cx="2688336" cy="1188720"/>
          </a:xfrm>
          <a:prstGeom prst="rect">
            <a:avLst/>
          </a:prstGeom>
          <a:noFill/>
          <a:ln/>
        </p:spPr>
        <p:txBody>
          <a:bodyPr wrap="square" lIns="0" tIns="0" rIns="0" bIns="0" rtlCol="0" anchor="t"/>
          <a:lstStyle/>
          <a:p>
            <a:pPr indent="0" marL="0">
              <a:buNone/>
            </a:pPr>
            <a:r>
              <a:rPr lang="en-US" sz="1700" dirty="0">
                <a:solidFill>
                  <a:srgbClr val="5F5C54"/>
                </a:solidFill>
                <a:latin typeface="Calibri" pitchFamily="34" charset="0"/>
                <a:ea typeface="Calibri" pitchFamily="34" charset="-122"/>
                <a:cs typeface="Calibri" pitchFamily="34" charset="-120"/>
              </a:rPr>
              <a:t>Plant floors, basements and remote sites drop the connection for hours.</a:t>
            </a:r>
            <a:endParaRPr lang="en-US" sz="1700" dirty="0"/>
          </a:p>
        </p:txBody>
      </p:sp>
      <p:sp>
        <p:nvSpPr>
          <p:cNvPr id="8" name="Shape 6"/>
          <p:cNvSpPr/>
          <p:nvPr/>
        </p:nvSpPr>
        <p:spPr>
          <a:xfrm>
            <a:off x="4384548" y="2423160"/>
            <a:ext cx="3419856" cy="3200400"/>
          </a:xfrm>
          <a:prstGeom prst="roundRect">
            <a:avLst>
              <a:gd name="adj" fmla="val 3429"/>
            </a:avLst>
          </a:prstGeom>
          <a:solidFill>
            <a:srgbClr val="F3F4F2"/>
          </a:solidFill>
          <a:ln w="12700">
            <a:solidFill>
              <a:srgbClr val="F3F4F2"/>
            </a:solidFill>
            <a:prstDash val="solid"/>
          </a:ln>
        </p:spPr>
        <p:txBody>
          <a:bodyPr/>
          <a:p/>
        </p:txBody>
      </p:sp>
      <p:sp>
        <p:nvSpPr>
          <p:cNvPr id="9" name="Shape 7"/>
          <p:cNvSpPr/>
          <p:nvPr/>
        </p:nvSpPr>
        <p:spPr>
          <a:xfrm>
            <a:off x="4750308" y="2788920"/>
            <a:ext cx="548640" cy="548640"/>
          </a:xfrm>
          <a:prstGeom prst="ellipse">
            <a:avLst/>
          </a:prstGeom>
          <a:solidFill>
            <a:srgbClr val="C2410C"/>
          </a:solidFill>
          <a:ln w="12700">
            <a:solidFill>
              <a:srgbClr val="C2410C"/>
            </a:solidFill>
            <a:prstDash val="solid"/>
          </a:ln>
        </p:spPr>
        <p:txBody>
          <a:bodyPr/>
          <a:p/>
        </p:txBody>
      </p:sp>
      <p:sp>
        <p:nvSpPr>
          <p:cNvPr id="10" name="Text 8"/>
          <p:cNvSpPr txBox="1"/>
          <p:nvPr/>
        </p:nvSpPr>
        <p:spPr>
          <a:xfrm>
            <a:off x="4750308" y="2788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4750308" y="3611880"/>
            <a:ext cx="2688336" cy="411480"/>
          </a:xfrm>
          <a:prstGeom prst="rect">
            <a:avLst/>
          </a:prstGeom>
          <a:noFill/>
          <a:ln/>
        </p:spPr>
        <p:txBody>
          <a:bodyPr wrap="square" lIns="0" tIns="0" rIns="0" bIns="0" rtlCol="0" anchor="ctr"/>
          <a:lstStyle/>
          <a:p>
            <a:pPr indent="0" marL="0">
              <a:buNone/>
            </a:pPr>
            <a:r>
              <a:rPr lang="en-US" sz="2200" b="1" dirty="0">
                <a:solidFill>
                  <a:srgbClr val="1C1B18"/>
                </a:solidFill>
                <a:latin typeface="Arial" pitchFamily="34" charset="0"/>
                <a:ea typeface="Arial" pitchFamily="34" charset="-122"/>
                <a:cs typeface="Arial" pitchFamily="34" charset="-120"/>
              </a:rPr>
              <a:t>Mixed notes</a:t>
            </a:r>
            <a:endParaRPr lang="en-US" sz="2200" dirty="0"/>
          </a:p>
        </p:txBody>
      </p:sp>
      <p:sp>
        <p:nvSpPr>
          <p:cNvPr id="12" name="Text 10"/>
          <p:cNvSpPr txBox="1"/>
          <p:nvPr/>
        </p:nvSpPr>
        <p:spPr>
          <a:xfrm>
            <a:off x="4750308" y="4160520"/>
            <a:ext cx="2688336" cy="1188720"/>
          </a:xfrm>
          <a:prstGeom prst="rect">
            <a:avLst/>
          </a:prstGeom>
          <a:noFill/>
          <a:ln/>
        </p:spPr>
        <p:txBody>
          <a:bodyPr wrap="square" lIns="0" tIns="0" rIns="0" bIns="0" rtlCol="0" anchor="t"/>
          <a:lstStyle/>
          <a:p>
            <a:pPr indent="0" marL="0">
              <a:buNone/>
            </a:pPr>
            <a:r>
              <a:rPr lang="en-US" sz="1700" dirty="0">
                <a:solidFill>
                  <a:srgbClr val="5F5C54"/>
                </a:solidFill>
                <a:latin typeface="Calibri" pitchFamily="34" charset="0"/>
                <a:ea typeface="Calibri" pitchFamily="34" charset="-122"/>
                <a:cs typeface="Calibri" pitchFamily="34" charset="-120"/>
              </a:rPr>
              <a:t>One note can hold a fault the fleet needs and a name that must not leave.</a:t>
            </a:r>
            <a:endParaRPr lang="en-US" sz="1700" dirty="0"/>
          </a:p>
        </p:txBody>
      </p:sp>
      <p:sp>
        <p:nvSpPr>
          <p:cNvPr id="13" name="Shape 11"/>
          <p:cNvSpPr/>
          <p:nvPr/>
        </p:nvSpPr>
        <p:spPr>
          <a:xfrm>
            <a:off x="8129016" y="2423160"/>
            <a:ext cx="3419856" cy="3200400"/>
          </a:xfrm>
          <a:prstGeom prst="roundRect">
            <a:avLst>
              <a:gd name="adj" fmla="val 3429"/>
            </a:avLst>
          </a:prstGeom>
          <a:solidFill>
            <a:srgbClr val="F3F4F2"/>
          </a:solidFill>
          <a:ln w="12700">
            <a:solidFill>
              <a:srgbClr val="F3F4F2"/>
            </a:solidFill>
            <a:prstDash val="solid"/>
          </a:ln>
        </p:spPr>
        <p:txBody>
          <a:bodyPr/>
          <a:p/>
        </p:txBody>
      </p:sp>
      <p:sp>
        <p:nvSpPr>
          <p:cNvPr id="14" name="Shape 12"/>
          <p:cNvSpPr/>
          <p:nvPr/>
        </p:nvSpPr>
        <p:spPr>
          <a:xfrm>
            <a:off x="8494776" y="2788920"/>
            <a:ext cx="548640" cy="548640"/>
          </a:xfrm>
          <a:prstGeom prst="ellipse">
            <a:avLst/>
          </a:prstGeom>
          <a:solidFill>
            <a:srgbClr val="C2410C"/>
          </a:solidFill>
          <a:ln w="12700">
            <a:solidFill>
              <a:srgbClr val="C2410C"/>
            </a:solidFill>
            <a:prstDash val="solid"/>
          </a:ln>
        </p:spPr>
        <p:txBody>
          <a:bodyPr/>
          <a:p/>
        </p:txBody>
      </p:sp>
      <p:sp>
        <p:nvSpPr>
          <p:cNvPr id="15" name="Text 13"/>
          <p:cNvSpPr txBox="1"/>
          <p:nvPr/>
        </p:nvSpPr>
        <p:spPr>
          <a:xfrm>
            <a:off x="8494776" y="2788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txBox="1"/>
          <p:nvPr/>
        </p:nvSpPr>
        <p:spPr>
          <a:xfrm>
            <a:off x="8494776" y="3611880"/>
            <a:ext cx="2688336" cy="411480"/>
          </a:xfrm>
          <a:prstGeom prst="rect">
            <a:avLst/>
          </a:prstGeom>
          <a:noFill/>
          <a:ln/>
        </p:spPr>
        <p:txBody>
          <a:bodyPr wrap="square" lIns="0" tIns="0" rIns="0" bIns="0" rtlCol="0" anchor="ctr"/>
          <a:lstStyle/>
          <a:p>
            <a:pPr indent="0" marL="0">
              <a:buNone/>
            </a:pPr>
            <a:r>
              <a:rPr lang="en-US" sz="2200" b="1" dirty="0">
                <a:solidFill>
                  <a:srgbClr val="1C1B18"/>
                </a:solidFill>
                <a:latin typeface="Arial" pitchFamily="34" charset="0"/>
                <a:ea typeface="Arial" pitchFamily="34" charset="-122"/>
                <a:cs typeface="Arial" pitchFamily="34" charset="-120"/>
              </a:rPr>
              <a:t>Drift</a:t>
            </a:r>
            <a:endParaRPr lang="en-US" sz="2200" dirty="0"/>
          </a:p>
        </p:txBody>
      </p:sp>
      <p:sp>
        <p:nvSpPr>
          <p:cNvPr id="17" name="Text 15"/>
          <p:cNvSpPr txBox="1"/>
          <p:nvPr/>
        </p:nvSpPr>
        <p:spPr>
          <a:xfrm>
            <a:off x="8494776" y="4160520"/>
            <a:ext cx="2688336" cy="1188720"/>
          </a:xfrm>
          <a:prstGeom prst="rect">
            <a:avLst/>
          </a:prstGeom>
          <a:noFill/>
          <a:ln/>
        </p:spPr>
        <p:txBody>
          <a:bodyPr wrap="square" lIns="0" tIns="0" rIns="0" bIns="0" rtlCol="0" anchor="t"/>
          <a:lstStyle/>
          <a:p>
            <a:pPr indent="0" marL="0">
              <a:buNone/>
            </a:pPr>
            <a:r>
              <a:rPr lang="en-US" sz="1700" dirty="0">
                <a:solidFill>
                  <a:srgbClr val="5F5C54"/>
                </a:solidFill>
                <a:latin typeface="Calibri" pitchFamily="34" charset="0"/>
                <a:ea typeface="Calibri" pitchFamily="34" charset="-122"/>
                <a:cs typeface="Calibri" pitchFamily="34" charset="-120"/>
              </a:rPr>
              <a:t>Devices that work apart come back with different versions of the truth.</a:t>
            </a:r>
            <a:endParaRPr lang="en-US" sz="1700" dirty="0"/>
          </a:p>
        </p:txBody>
      </p:sp>
      <p:sp>
        <p:nvSpPr>
          <p:cNvPr id="18" name="Text 16"/>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5F5C54"/>
                </a:solidFill>
                <a:latin typeface="Courier New" pitchFamily="34" charset="0"/>
                <a:ea typeface="Courier New" pitchFamily="34" charset="-122"/>
                <a:cs typeface="Courier New"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868680"/>
          </a:xfrm>
          <a:prstGeom prst="rect">
            <a:avLst/>
          </a:prstGeom>
          <a:noFill/>
          <a:ln/>
        </p:spPr>
        <p:txBody>
          <a:bodyPr wrap="square" lIns="0" tIns="0" rIns="0" bIns="0" rtlCol="0" anchor="ctr"/>
          <a:lstStyle/>
          <a:p>
            <a:pPr indent="0" marL="0">
              <a:buNone/>
            </a:pPr>
            <a:r>
              <a:rPr lang="en-US" sz="3600" b="1" dirty="0">
                <a:solidFill>
                  <a:srgbClr val="1C1B18"/>
                </a:solidFill>
                <a:latin typeface="Arial" pitchFamily="34" charset="0"/>
                <a:ea typeface="Arial" pitchFamily="34" charset="-122"/>
                <a:cs typeface="Arial" pitchFamily="34" charset="-120"/>
              </a:rPr>
              <a:t>The device that keeps working</a:t>
            </a:r>
            <a:endParaRPr lang="en-US" sz="3600" dirty="0"/>
          </a:p>
        </p:txBody>
      </p:sp>
      <p:sp>
        <p:nvSpPr>
          <p:cNvPr id="3" name="Shape 1"/>
          <p:cNvSpPr/>
          <p:nvPr/>
        </p:nvSpPr>
        <p:spPr>
          <a:xfrm>
            <a:off x="640080" y="1801368"/>
            <a:ext cx="457200" cy="457200"/>
          </a:xfrm>
          <a:prstGeom prst="ellipse">
            <a:avLst/>
          </a:prstGeom>
          <a:solidFill>
            <a:srgbClr val="C2410C"/>
          </a:solidFill>
          <a:ln w="12700">
            <a:solidFill>
              <a:srgbClr val="C2410C"/>
            </a:solidFill>
            <a:prstDash val="solid"/>
          </a:ln>
        </p:spPr>
        <p:txBody>
          <a:bodyPr/>
          <a:p/>
        </p:txBody>
      </p:sp>
      <p:sp>
        <p:nvSpPr>
          <p:cNvPr id="4" name="Text 2"/>
          <p:cNvSpPr txBox="1"/>
          <p:nvPr/>
        </p:nvSpPr>
        <p:spPr>
          <a:xfrm>
            <a:off x="640080" y="18013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325880" y="1783080"/>
            <a:ext cx="3246120" cy="411480"/>
          </a:xfrm>
          <a:prstGeom prst="rect">
            <a:avLst/>
          </a:prstGeom>
          <a:noFill/>
          <a:ln/>
        </p:spPr>
        <p:txBody>
          <a:bodyPr wrap="square" lIns="0" tIns="0" rIns="0" bIns="0" rtlCol="0" anchor="ctr"/>
          <a:lstStyle/>
          <a:p>
            <a:pPr indent="0" marL="0">
              <a:buNone/>
            </a:pPr>
            <a:r>
              <a:rPr lang="en-US" sz="2000" b="1" dirty="0">
                <a:solidFill>
                  <a:srgbClr val="1C1B18"/>
                </a:solidFill>
                <a:latin typeface="Arial" pitchFamily="34" charset="0"/>
                <a:ea typeface="Arial" pitchFamily="34" charset="-122"/>
                <a:cs typeface="Arial" pitchFamily="34" charset="-120"/>
              </a:rPr>
              <a:t>Record</a:t>
            </a:r>
            <a:endParaRPr lang="en-US" sz="2000" dirty="0"/>
          </a:p>
        </p:txBody>
      </p:sp>
      <p:sp>
        <p:nvSpPr>
          <p:cNvPr id="6" name="Text 4"/>
          <p:cNvSpPr txBox="1"/>
          <p:nvPr/>
        </p:nvSpPr>
        <p:spPr>
          <a:xfrm>
            <a:off x="1325880" y="2240280"/>
            <a:ext cx="3246120" cy="77724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Write, dictate or photograph what you saw. Hands-free dictation in any language, transcribed on the device. The preview shows what will be shared before you save.</a:t>
            </a:r>
            <a:endParaRPr lang="en-US" sz="1600" dirty="0"/>
          </a:p>
        </p:txBody>
      </p:sp>
      <p:sp>
        <p:nvSpPr>
          <p:cNvPr id="7" name="Shape 5"/>
          <p:cNvSpPr/>
          <p:nvPr/>
        </p:nvSpPr>
        <p:spPr>
          <a:xfrm>
            <a:off x="640080" y="3172968"/>
            <a:ext cx="457200" cy="457200"/>
          </a:xfrm>
          <a:prstGeom prst="ellipse">
            <a:avLst/>
          </a:prstGeom>
          <a:solidFill>
            <a:srgbClr val="C2410C"/>
          </a:solidFill>
          <a:ln w="12700">
            <a:solidFill>
              <a:srgbClr val="C2410C"/>
            </a:solidFill>
            <a:prstDash val="solid"/>
          </a:ln>
        </p:spPr>
        <p:txBody>
          <a:bodyPr/>
          <a:p/>
        </p:txBody>
      </p:sp>
      <p:sp>
        <p:nvSpPr>
          <p:cNvPr id="8" name="Text 6"/>
          <p:cNvSpPr txBox="1"/>
          <p:nvPr/>
        </p:nvSpPr>
        <p:spPr>
          <a:xfrm>
            <a:off x="640080" y="31729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325880" y="3154680"/>
            <a:ext cx="3246120" cy="411480"/>
          </a:xfrm>
          <a:prstGeom prst="rect">
            <a:avLst/>
          </a:prstGeom>
          <a:noFill/>
          <a:ln/>
        </p:spPr>
        <p:txBody>
          <a:bodyPr wrap="square" lIns="0" tIns="0" rIns="0" bIns="0" rtlCol="0" anchor="ctr"/>
          <a:lstStyle/>
          <a:p>
            <a:pPr indent="0" marL="0">
              <a:buNone/>
            </a:pPr>
            <a:r>
              <a:rPr lang="en-US" sz="2000" b="1" dirty="0">
                <a:solidFill>
                  <a:srgbClr val="1C1B18"/>
                </a:solidFill>
                <a:latin typeface="Arial" pitchFamily="34" charset="0"/>
                <a:ea typeface="Arial" pitchFamily="34" charset="-122"/>
                <a:cs typeface="Arial" pitchFamily="34" charset="-120"/>
              </a:rPr>
              <a:t>Find</a:t>
            </a:r>
            <a:endParaRPr lang="en-US" sz="2000" dirty="0"/>
          </a:p>
        </p:txBody>
      </p:sp>
      <p:sp>
        <p:nvSpPr>
          <p:cNvPr id="10" name="Text 8"/>
          <p:cNvSpPr txBox="1"/>
          <p:nvPr/>
        </p:nvSpPr>
        <p:spPr>
          <a:xfrm>
            <a:off x="1325880" y="3611880"/>
            <a:ext cx="3246120" cy="77724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Search your notes, photos and headquarters manuals in about a millisecond.</a:t>
            </a:r>
            <a:endParaRPr lang="en-US" sz="1600" dirty="0"/>
          </a:p>
        </p:txBody>
      </p:sp>
      <p:sp>
        <p:nvSpPr>
          <p:cNvPr id="11" name="Shape 9"/>
          <p:cNvSpPr/>
          <p:nvPr/>
        </p:nvSpPr>
        <p:spPr>
          <a:xfrm>
            <a:off x="640080" y="4544568"/>
            <a:ext cx="457200" cy="457200"/>
          </a:xfrm>
          <a:prstGeom prst="ellipse">
            <a:avLst/>
          </a:prstGeom>
          <a:solidFill>
            <a:srgbClr val="C2410C"/>
          </a:solidFill>
          <a:ln w="12700">
            <a:solidFill>
              <a:srgbClr val="C2410C"/>
            </a:solidFill>
            <a:prstDash val="solid"/>
          </a:ln>
        </p:spPr>
        <p:txBody>
          <a:bodyPr/>
          <a:p/>
        </p:txBody>
      </p:sp>
      <p:sp>
        <p:nvSpPr>
          <p:cNvPr id="12" name="Text 10"/>
          <p:cNvSpPr txBox="1"/>
          <p:nvPr/>
        </p:nvSpPr>
        <p:spPr>
          <a:xfrm>
            <a:off x="640080" y="45445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3" name="Text 11"/>
          <p:cNvSpPr txBox="1"/>
          <p:nvPr/>
        </p:nvSpPr>
        <p:spPr>
          <a:xfrm>
            <a:off x="1325880" y="4526280"/>
            <a:ext cx="3246120" cy="411480"/>
          </a:xfrm>
          <a:prstGeom prst="rect">
            <a:avLst/>
          </a:prstGeom>
          <a:noFill/>
          <a:ln/>
        </p:spPr>
        <p:txBody>
          <a:bodyPr wrap="square" lIns="0" tIns="0" rIns="0" bIns="0" rtlCol="0" anchor="ctr"/>
          <a:lstStyle/>
          <a:p>
            <a:pPr indent="0" marL="0">
              <a:buNone/>
            </a:pPr>
            <a:r>
              <a:rPr lang="en-US" sz="2000" b="1" dirty="0">
                <a:solidFill>
                  <a:srgbClr val="1C1B18"/>
                </a:solidFill>
                <a:latin typeface="Arial" pitchFamily="34" charset="0"/>
                <a:ea typeface="Arial" pitchFamily="34" charset="-122"/>
                <a:cs typeface="Arial" pitchFamily="34" charset="-120"/>
              </a:rPr>
              <a:t>Ask</a:t>
            </a:r>
            <a:endParaRPr lang="en-US" sz="2000" dirty="0"/>
          </a:p>
        </p:txBody>
      </p:sp>
      <p:sp>
        <p:nvSpPr>
          <p:cNvPr id="14" name="Text 12"/>
          <p:cNvSpPr txBox="1"/>
          <p:nvPr/>
        </p:nvSpPr>
        <p:spPr>
          <a:xfrm>
            <a:off x="1325880" y="4983480"/>
            <a:ext cx="3246120" cy="77724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Get a cited answer written on the device, checked against its sources. No cloud call.</a:t>
            </a:r>
            <a:endParaRPr lang="en-US" sz="1600" dirty="0"/>
          </a:p>
        </p:txBody>
      </p:sp>
      <p:sp>
        <p:nvSpPr>
          <p:cNvPr id="15" name="Shape 13"/>
          <p:cNvSpPr/>
          <p:nvPr/>
        </p:nvSpPr>
        <p:spPr>
          <a:xfrm>
            <a:off x="4965192" y="1581912"/>
            <a:ext cx="6601968" cy="4595876"/>
          </a:xfrm>
          <a:prstGeom prst="rect">
            <a:avLst/>
          </a:prstGeom>
          <a:solidFill>
            <a:srgbClr val="FFFFFF"/>
          </a:solidFill>
          <a:ln w="9525">
            <a:solidFill>
              <a:srgbClr val="D9D9D4"/>
            </a:solidFill>
            <a:prstDash val="solid"/>
          </a:ln>
          <a:effectLst>
            <a:outerShdw sx="100000" sy="100000" kx="0" ky="0" algn="bl" rotWithShape="0" blurRad="152400" dist="38100" dir="5400000">
              <a:srgbClr val="000000">
                <a:alpha val="18000"/>
              </a:srgbClr>
            </a:outerShdw>
          </a:effectLst>
        </p:spPr>
        <p:txBody>
          <a:bodyPr/>
          <a:p/>
        </p:txBody>
      </p:sp>
      <p:sp>
        <p:nvSpPr>
          <p:cNvPr id="17" name="Text 14"/>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5F5C54"/>
                </a:solidFill>
                <a:latin typeface="Courier New" pitchFamily="34" charset="0"/>
                <a:ea typeface="Courier New" pitchFamily="34" charset="-122"/>
                <a:cs typeface="Courier New" pitchFamily="34" charset="-120"/>
              </a:rPr>
              <a:t>03</a:t>
            </a:r>
            <a:endParaRPr lang="en-US" sz="1100" dirty="0"/>
          </a:p>
        </p:txBody>
      </p:sp>
      <p:pic>
        <p:nvPicPr>
          <p:cNvPr id="18" name="Picture 17" descr="offline-work.png"/>
          <p:cNvPicPr>
            <a:picLocks noChangeAspect="1"/>
          </p:cNvPicPr>
          <p:nvPr/>
        </p:nvPicPr>
        <p:blipFill>
          <a:blip r:embed="rId5"/>
          <a:stretch>
            <a:fillRect/>
          </a:stretch>
        </p:blipFill>
        <p:spPr>
          <a:xfrm>
            <a:off x="4983480" y="1600200"/>
            <a:ext cx="6565392" cy="4559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868680"/>
          </a:xfrm>
          <a:prstGeom prst="rect">
            <a:avLst/>
          </a:prstGeom>
          <a:noFill/>
          <a:ln/>
        </p:spPr>
        <p:txBody>
          <a:bodyPr wrap="square" lIns="0" tIns="0" rIns="0" bIns="0" rtlCol="0" anchor="ctr"/>
          <a:lstStyle/>
          <a:p>
            <a:pPr indent="0" marL="0">
              <a:buNone/>
            </a:pPr>
            <a:r>
              <a:rPr lang="en-US" sz="3600" b="1" dirty="0">
                <a:solidFill>
                  <a:srgbClr val="1C1B18"/>
                </a:solidFill>
                <a:latin typeface="Arial" pitchFamily="34" charset="0"/>
                <a:ea typeface="Arial" pitchFamily="34" charset="-122"/>
                <a:cs typeface="Arial" pitchFamily="34" charset="-120"/>
              </a:rPr>
              <a:t>One device process, one cloud collection</a:t>
            </a:r>
            <a:endParaRPr lang="en-US" sz="3600" dirty="0"/>
          </a:p>
        </p:txBody>
      </p:sp>
      <p:sp>
        <p:nvSpPr>
          <p:cNvPr id="3" name="Shape 1"/>
          <p:cNvSpPr/>
          <p:nvPr/>
        </p:nvSpPr>
        <p:spPr>
          <a:xfrm>
            <a:off x="640080" y="1691640"/>
            <a:ext cx="6400800" cy="4343400"/>
          </a:xfrm>
          <a:prstGeom prst="roundRect">
            <a:avLst>
              <a:gd name="adj" fmla="val 2526"/>
            </a:avLst>
          </a:prstGeom>
          <a:solidFill>
            <a:srgbClr val="F3F4F2"/>
          </a:solidFill>
          <a:ln w="12700">
            <a:solidFill>
              <a:srgbClr val="F3F4F2"/>
            </a:solidFill>
            <a:prstDash val="solid"/>
          </a:ln>
        </p:spPr>
        <p:txBody>
          <a:bodyPr/>
          <a:p/>
        </p:txBody>
      </p:sp>
      <p:sp>
        <p:nvSpPr>
          <p:cNvPr id="4" name="Text 2"/>
          <p:cNvSpPr txBox="1"/>
          <p:nvPr/>
        </p:nvSpPr>
        <p:spPr>
          <a:xfrm>
            <a:off x="914400" y="1874520"/>
            <a:ext cx="3657600" cy="365760"/>
          </a:xfrm>
          <a:prstGeom prst="rect">
            <a:avLst/>
          </a:prstGeom>
          <a:noFill/>
          <a:ln/>
        </p:spPr>
        <p:txBody>
          <a:bodyPr wrap="square" lIns="0" tIns="0" rIns="0" bIns="0" rtlCol="0" anchor="ctr"/>
          <a:lstStyle/>
          <a:p>
            <a:pPr indent="0" marL="0">
              <a:buNone/>
            </a:pPr>
            <a:r>
              <a:rPr lang="en-US" sz="1800" b="1" dirty="0">
                <a:solidFill>
                  <a:srgbClr val="1C1B18"/>
                </a:solidFill>
                <a:latin typeface="Arial" pitchFamily="34" charset="0"/>
                <a:ea typeface="Arial" pitchFamily="34" charset="-122"/>
                <a:cs typeface="Arial" pitchFamily="34" charset="-120"/>
              </a:rPr>
              <a:t>Edge device</a:t>
            </a:r>
            <a:endParaRPr lang="en-US" sz="1800" dirty="0"/>
          </a:p>
        </p:txBody>
      </p:sp>
      <p:sp>
        <p:nvSpPr>
          <p:cNvPr id="5" name="Shape 3"/>
          <p:cNvSpPr/>
          <p:nvPr/>
        </p:nvSpPr>
        <p:spPr>
          <a:xfrm>
            <a:off x="914400" y="2423160"/>
            <a:ext cx="2834640" cy="1005840"/>
          </a:xfrm>
          <a:prstGeom prst="roundRect">
            <a:avLst>
              <a:gd name="adj" fmla="val 10909"/>
            </a:avLst>
          </a:prstGeom>
          <a:solidFill>
            <a:srgbClr val="DDE8FB"/>
          </a:solidFill>
          <a:ln w="12700">
            <a:solidFill>
              <a:srgbClr val="DDE8FB"/>
            </a:solidFill>
            <a:prstDash val="solid"/>
          </a:ln>
        </p:spPr>
        <p:txBody>
          <a:bodyPr/>
          <a:p/>
        </p:txBody>
      </p:sp>
      <p:sp>
        <p:nvSpPr>
          <p:cNvPr id="6" name="Text 4"/>
          <p:cNvSpPr txBox="1"/>
          <p:nvPr/>
        </p:nvSpPr>
        <p:spPr>
          <a:xfrm>
            <a:off x="1143000" y="2578608"/>
            <a:ext cx="2377440" cy="320040"/>
          </a:xfrm>
          <a:prstGeom prst="rect">
            <a:avLst/>
          </a:prstGeom>
          <a:noFill/>
          <a:ln/>
        </p:spPr>
        <p:txBody>
          <a:bodyPr wrap="square" lIns="0" tIns="0" rIns="0" bIns="0" rtlCol="0" anchor="ctr"/>
          <a:lstStyle/>
          <a:p>
            <a:pPr indent="0" marL="0">
              <a:buNone/>
            </a:pPr>
            <a:r>
              <a:rPr lang="en-US" sz="1600" b="1" dirty="0">
                <a:solidFill>
                  <a:srgbClr val="1C1B18"/>
                </a:solidFill>
                <a:latin typeface="Arial" pitchFamily="34" charset="0"/>
                <a:ea typeface="Arial" pitchFamily="34" charset="-122"/>
                <a:cs typeface="Arial" pitchFamily="34" charset="-120"/>
              </a:rPr>
              <a:t>Local shard</a:t>
            </a:r>
            <a:endParaRPr lang="en-US" sz="1600" dirty="0"/>
          </a:p>
        </p:txBody>
      </p:sp>
      <p:sp>
        <p:nvSpPr>
          <p:cNvPr id="7" name="Text 5"/>
          <p:cNvSpPr txBox="1"/>
          <p:nvPr/>
        </p:nvSpPr>
        <p:spPr>
          <a:xfrm>
            <a:off x="1143000" y="2953512"/>
            <a:ext cx="2377440" cy="320040"/>
          </a:xfrm>
          <a:prstGeom prst="rect">
            <a:avLst/>
          </a:prstGeom>
          <a:noFill/>
          <a:ln/>
        </p:spPr>
        <p:txBody>
          <a:bodyPr wrap="square" lIns="0" tIns="0" rIns="0" bIns="0" rtlCol="0" anchor="ctr"/>
          <a:lstStyle/>
          <a:p>
            <a:pPr indent="0" marL="0">
              <a:buNone/>
            </a:pPr>
            <a:r>
              <a:rPr lang="en-US" sz="1400" dirty="0">
                <a:solidFill>
                  <a:srgbClr val="5F5C54"/>
                </a:solidFill>
                <a:latin typeface="Calibri" pitchFamily="34" charset="0"/>
                <a:ea typeface="Calibri" pitchFamily="34" charset="-122"/>
                <a:cs typeface="Calibri" pitchFamily="34" charset="-120"/>
              </a:rPr>
              <a:t>Written here, private too, sealed on disk</a:t>
            </a:r>
            <a:endParaRPr lang="en-US" sz="1400" dirty="0"/>
          </a:p>
        </p:txBody>
      </p:sp>
      <p:sp>
        <p:nvSpPr>
          <p:cNvPr id="8" name="Shape 6"/>
          <p:cNvSpPr/>
          <p:nvPr/>
        </p:nvSpPr>
        <p:spPr>
          <a:xfrm>
            <a:off x="3931920" y="2423160"/>
            <a:ext cx="2834640" cy="1005840"/>
          </a:xfrm>
          <a:prstGeom prst="roundRect">
            <a:avLst>
              <a:gd name="adj" fmla="val 10909"/>
            </a:avLst>
          </a:prstGeom>
          <a:solidFill>
            <a:srgbClr val="DDE8FB"/>
          </a:solidFill>
          <a:ln w="12700">
            <a:solidFill>
              <a:srgbClr val="DDE8FB"/>
            </a:solidFill>
            <a:prstDash val="solid"/>
          </a:ln>
        </p:spPr>
        <p:txBody>
          <a:bodyPr/>
          <a:p/>
        </p:txBody>
      </p:sp>
      <p:sp>
        <p:nvSpPr>
          <p:cNvPr id="9" name="Text 7"/>
          <p:cNvSpPr txBox="1"/>
          <p:nvPr/>
        </p:nvSpPr>
        <p:spPr>
          <a:xfrm>
            <a:off x="4160520" y="2578608"/>
            <a:ext cx="2377440" cy="320040"/>
          </a:xfrm>
          <a:prstGeom prst="rect">
            <a:avLst/>
          </a:prstGeom>
          <a:noFill/>
          <a:ln/>
        </p:spPr>
        <p:txBody>
          <a:bodyPr wrap="square" lIns="0" tIns="0" rIns="0" bIns="0" rtlCol="0" anchor="ctr"/>
          <a:lstStyle/>
          <a:p>
            <a:pPr indent="0" marL="0">
              <a:buNone/>
            </a:pPr>
            <a:r>
              <a:rPr lang="en-US" sz="1600" b="1" dirty="0">
                <a:solidFill>
                  <a:srgbClr val="1C1B18"/>
                </a:solidFill>
                <a:latin typeface="Arial" pitchFamily="34" charset="0"/>
                <a:ea typeface="Arial" pitchFamily="34" charset="-122"/>
                <a:cs typeface="Arial" pitchFamily="34" charset="-120"/>
              </a:rPr>
              <a:t>Replica shard</a:t>
            </a:r>
            <a:endParaRPr lang="en-US" sz="1600" dirty="0"/>
          </a:p>
        </p:txBody>
      </p:sp>
      <p:sp>
        <p:nvSpPr>
          <p:cNvPr id="10" name="Text 8"/>
          <p:cNvSpPr txBox="1"/>
          <p:nvPr/>
        </p:nvSpPr>
        <p:spPr>
          <a:xfrm>
            <a:off x="4160520" y="2953512"/>
            <a:ext cx="2377440" cy="320040"/>
          </a:xfrm>
          <a:prstGeom prst="rect">
            <a:avLst/>
          </a:prstGeom>
          <a:noFill/>
          <a:ln/>
        </p:spPr>
        <p:txBody>
          <a:bodyPr wrap="square" lIns="0" tIns="0" rIns="0" bIns="0" rtlCol="0" anchor="ctr"/>
          <a:lstStyle/>
          <a:p>
            <a:pPr indent="0" marL="0">
              <a:buNone/>
            </a:pPr>
            <a:r>
              <a:rPr lang="en-US" sz="1400" dirty="0">
                <a:solidFill>
                  <a:srgbClr val="5F5C54"/>
                </a:solidFill>
                <a:latin typeface="Calibri" pitchFamily="34" charset="0"/>
                <a:ea typeface="Calibri" pitchFamily="34" charset="-122"/>
                <a:cs typeface="Calibri" pitchFamily="34" charset="-120"/>
              </a:rPr>
              <a:t>Cloud knowledge, or from nearby devices</a:t>
            </a:r>
            <a:endParaRPr lang="en-US" sz="1400" dirty="0"/>
          </a:p>
        </p:txBody>
      </p:sp>
      <p:sp>
        <p:nvSpPr>
          <p:cNvPr id="11" name="Shape 9"/>
          <p:cNvSpPr/>
          <p:nvPr/>
        </p:nvSpPr>
        <p:spPr>
          <a:xfrm>
            <a:off x="914400" y="3584448"/>
            <a:ext cx="2834640" cy="1005840"/>
          </a:xfrm>
          <a:prstGeom prst="roundRect">
            <a:avLst>
              <a:gd name="adj" fmla="val 10909"/>
            </a:avLst>
          </a:prstGeom>
          <a:solidFill>
            <a:srgbClr val="FFFFFF"/>
          </a:solidFill>
          <a:ln w="12700">
            <a:solidFill>
              <a:srgbClr val="FFFFFF"/>
            </a:solidFill>
            <a:prstDash val="solid"/>
          </a:ln>
        </p:spPr>
        <p:txBody>
          <a:bodyPr/>
          <a:p/>
        </p:txBody>
      </p:sp>
      <p:sp>
        <p:nvSpPr>
          <p:cNvPr id="12" name="Text 10"/>
          <p:cNvSpPr txBox="1"/>
          <p:nvPr/>
        </p:nvSpPr>
        <p:spPr>
          <a:xfrm>
            <a:off x="1143000" y="3739896"/>
            <a:ext cx="2377440" cy="320040"/>
          </a:xfrm>
          <a:prstGeom prst="rect">
            <a:avLst/>
          </a:prstGeom>
          <a:noFill/>
          <a:ln/>
        </p:spPr>
        <p:txBody>
          <a:bodyPr wrap="square" lIns="0" tIns="0" rIns="0" bIns="0" rtlCol="0" anchor="ctr"/>
          <a:lstStyle/>
          <a:p>
            <a:pPr indent="0" marL="0">
              <a:buNone/>
            </a:pPr>
            <a:r>
              <a:rPr lang="en-US" sz="1600" b="1" dirty="0">
                <a:solidFill>
                  <a:srgbClr val="1C1B18"/>
                </a:solidFill>
                <a:latin typeface="Arial" pitchFamily="34" charset="0"/>
                <a:ea typeface="Arial" pitchFamily="34" charset="-122"/>
                <a:cs typeface="Arial" pitchFamily="34" charset="-120"/>
              </a:rPr>
              <a:t>Policy engine</a:t>
            </a:r>
            <a:endParaRPr lang="en-US" sz="1600" dirty="0"/>
          </a:p>
        </p:txBody>
      </p:sp>
      <p:sp>
        <p:nvSpPr>
          <p:cNvPr id="13" name="Text 11"/>
          <p:cNvSpPr txBox="1"/>
          <p:nvPr/>
        </p:nvSpPr>
        <p:spPr>
          <a:xfrm>
            <a:off x="1143000" y="4114800"/>
            <a:ext cx="2377440" cy="320040"/>
          </a:xfrm>
          <a:prstGeom prst="rect">
            <a:avLst/>
          </a:prstGeom>
          <a:noFill/>
          <a:ln/>
        </p:spPr>
        <p:txBody>
          <a:bodyPr wrap="square" lIns="0" tIns="0" rIns="0" bIns="0" rtlCol="0" anchor="ctr"/>
          <a:lstStyle/>
          <a:p>
            <a:pPr indent="0" marL="0">
              <a:buNone/>
            </a:pPr>
            <a:r>
              <a:rPr lang="en-US" sz="1400" dirty="0">
                <a:solidFill>
                  <a:srgbClr val="5F5C54"/>
                </a:solidFill>
                <a:latin typeface="Calibri" pitchFamily="34" charset="0"/>
                <a:ea typeface="Calibri" pitchFamily="34" charset="-122"/>
                <a:cs typeface="Calibri" pitchFamily="34" charset="-120"/>
              </a:rPr>
              <a:t>Decides what may leave, learns from you</a:t>
            </a:r>
            <a:endParaRPr lang="en-US" sz="1400" dirty="0"/>
          </a:p>
        </p:txBody>
      </p:sp>
      <p:sp>
        <p:nvSpPr>
          <p:cNvPr id="14" name="Shape 12"/>
          <p:cNvSpPr/>
          <p:nvPr/>
        </p:nvSpPr>
        <p:spPr>
          <a:xfrm>
            <a:off x="3931920" y="3584448"/>
            <a:ext cx="2834640" cy="1005840"/>
          </a:xfrm>
          <a:prstGeom prst="roundRect">
            <a:avLst>
              <a:gd name="adj" fmla="val 10909"/>
            </a:avLst>
          </a:prstGeom>
          <a:solidFill>
            <a:srgbClr val="FFFFFF"/>
          </a:solidFill>
          <a:ln w="12700">
            <a:solidFill>
              <a:srgbClr val="FFFFFF"/>
            </a:solidFill>
            <a:prstDash val="solid"/>
          </a:ln>
        </p:spPr>
        <p:txBody>
          <a:bodyPr/>
          <a:p/>
        </p:txBody>
      </p:sp>
      <p:sp>
        <p:nvSpPr>
          <p:cNvPr id="15" name="Text 13"/>
          <p:cNvSpPr txBox="1"/>
          <p:nvPr/>
        </p:nvSpPr>
        <p:spPr>
          <a:xfrm>
            <a:off x="4160520" y="3739896"/>
            <a:ext cx="2377440" cy="320040"/>
          </a:xfrm>
          <a:prstGeom prst="rect">
            <a:avLst/>
          </a:prstGeom>
          <a:noFill/>
          <a:ln/>
        </p:spPr>
        <p:txBody>
          <a:bodyPr wrap="square" lIns="0" tIns="0" rIns="0" bIns="0" rtlCol="0" anchor="ctr"/>
          <a:lstStyle/>
          <a:p>
            <a:pPr indent="0" marL="0">
              <a:buNone/>
            </a:pPr>
            <a:r>
              <a:rPr lang="en-US" sz="1600" b="1" dirty="0">
                <a:solidFill>
                  <a:srgbClr val="1C1B18"/>
                </a:solidFill>
                <a:latin typeface="Arial" pitchFamily="34" charset="0"/>
                <a:ea typeface="Arial" pitchFamily="34" charset="-122"/>
                <a:cs typeface="Arial" pitchFamily="34" charset="-120"/>
              </a:rPr>
              <a:t>Embeddings</a:t>
            </a:r>
            <a:endParaRPr lang="en-US" sz="1600" dirty="0"/>
          </a:p>
        </p:txBody>
      </p:sp>
      <p:sp>
        <p:nvSpPr>
          <p:cNvPr id="16" name="Text 14"/>
          <p:cNvSpPr txBox="1"/>
          <p:nvPr/>
        </p:nvSpPr>
        <p:spPr>
          <a:xfrm>
            <a:off x="4160520" y="4114800"/>
            <a:ext cx="2377440" cy="320040"/>
          </a:xfrm>
          <a:prstGeom prst="rect">
            <a:avLst/>
          </a:prstGeom>
          <a:noFill/>
          <a:ln/>
        </p:spPr>
        <p:txBody>
          <a:bodyPr wrap="square" lIns="0" tIns="0" rIns="0" bIns="0" rtlCol="0" anchor="ctr"/>
          <a:lstStyle/>
          <a:p>
            <a:pPr indent="0" marL="0">
              <a:buNone/>
            </a:pPr>
            <a:r>
              <a:rPr lang="en-US" sz="1400" dirty="0">
                <a:solidFill>
                  <a:srgbClr val="5F5C54"/>
                </a:solidFill>
                <a:latin typeface="Calibri" pitchFamily="34" charset="0"/>
                <a:ea typeface="Calibri" pitchFamily="34" charset="-122"/>
                <a:cs typeface="Calibri" pitchFamily="34" charset="-120"/>
              </a:rPr>
              <a:t>bge-small and BM25, MiniLM reranker, CLIP</a:t>
            </a:r>
            <a:endParaRPr lang="en-US" sz="1400" dirty="0"/>
          </a:p>
        </p:txBody>
      </p:sp>
      <p:sp>
        <p:nvSpPr>
          <p:cNvPr id="17" name="Shape 15"/>
          <p:cNvSpPr/>
          <p:nvPr/>
        </p:nvSpPr>
        <p:spPr>
          <a:xfrm>
            <a:off x="914400" y="4745736"/>
            <a:ext cx="2834640" cy="1005840"/>
          </a:xfrm>
          <a:prstGeom prst="roundRect">
            <a:avLst>
              <a:gd name="adj" fmla="val 10909"/>
            </a:avLst>
          </a:prstGeom>
          <a:solidFill>
            <a:srgbClr val="FFFFFF"/>
          </a:solidFill>
          <a:ln w="12700">
            <a:solidFill>
              <a:srgbClr val="FFFFFF"/>
            </a:solidFill>
            <a:prstDash val="solid"/>
          </a:ln>
        </p:spPr>
        <p:txBody>
          <a:bodyPr/>
          <a:p/>
        </p:txBody>
      </p:sp>
      <p:sp>
        <p:nvSpPr>
          <p:cNvPr id="18" name="Text 16"/>
          <p:cNvSpPr txBox="1"/>
          <p:nvPr/>
        </p:nvSpPr>
        <p:spPr>
          <a:xfrm>
            <a:off x="1143000" y="4901184"/>
            <a:ext cx="2377440" cy="320040"/>
          </a:xfrm>
          <a:prstGeom prst="rect">
            <a:avLst/>
          </a:prstGeom>
          <a:noFill/>
          <a:ln/>
        </p:spPr>
        <p:txBody>
          <a:bodyPr wrap="square" lIns="0" tIns="0" rIns="0" bIns="0" rtlCol="0" anchor="ctr"/>
          <a:lstStyle/>
          <a:p>
            <a:pPr indent="0" marL="0">
              <a:buNone/>
            </a:pPr>
            <a:r>
              <a:rPr lang="en-US" sz="1600" b="1" dirty="0">
                <a:solidFill>
                  <a:srgbClr val="1C1B18"/>
                </a:solidFill>
                <a:latin typeface="Arial" pitchFamily="34" charset="0"/>
                <a:ea typeface="Arial" pitchFamily="34" charset="-122"/>
                <a:cs typeface="Arial" pitchFamily="34" charset="-120"/>
              </a:rPr>
              <a:t>Journal</a:t>
            </a:r>
            <a:endParaRPr lang="en-US" sz="1600" dirty="0"/>
          </a:p>
        </p:txBody>
      </p:sp>
      <p:sp>
        <p:nvSpPr>
          <p:cNvPr id="19" name="Text 17"/>
          <p:cNvSpPr txBox="1"/>
          <p:nvPr/>
        </p:nvSpPr>
        <p:spPr>
          <a:xfrm>
            <a:off x="1143000" y="5276088"/>
            <a:ext cx="2377440" cy="320040"/>
          </a:xfrm>
          <a:prstGeom prst="rect">
            <a:avLst/>
          </a:prstGeom>
          <a:noFill/>
          <a:ln/>
        </p:spPr>
        <p:txBody>
          <a:bodyPr wrap="square" lIns="0" tIns="0" rIns="0" bIns="0" rtlCol="0" anchor="ctr"/>
          <a:lstStyle/>
          <a:p>
            <a:pPr indent="0" marL="0">
              <a:buNone/>
            </a:pPr>
            <a:r>
              <a:rPr lang="en-US" sz="1400" dirty="0">
                <a:solidFill>
                  <a:srgbClr val="5F5C54"/>
                </a:solidFill>
                <a:latin typeface="Calibri" pitchFamily="34" charset="0"/>
                <a:ea typeface="Calibri" pitchFamily="34" charset="-122"/>
                <a:cs typeface="Calibri" pitchFamily="34" charset="-120"/>
              </a:rPr>
              <a:t>Outbox, conflicts, activity</a:t>
            </a:r>
            <a:endParaRPr lang="en-US" sz="1400" dirty="0"/>
          </a:p>
        </p:txBody>
      </p:sp>
      <p:sp>
        <p:nvSpPr>
          <p:cNvPr id="20" name="Shape 18"/>
          <p:cNvSpPr/>
          <p:nvPr/>
        </p:nvSpPr>
        <p:spPr>
          <a:xfrm>
            <a:off x="3931920" y="4745736"/>
            <a:ext cx="2834640" cy="1005840"/>
          </a:xfrm>
          <a:prstGeom prst="roundRect">
            <a:avLst>
              <a:gd name="adj" fmla="val 10909"/>
            </a:avLst>
          </a:prstGeom>
          <a:solidFill>
            <a:srgbClr val="FFFFFF"/>
          </a:solidFill>
          <a:ln w="12700">
            <a:solidFill>
              <a:srgbClr val="FFFFFF"/>
            </a:solidFill>
            <a:prstDash val="solid"/>
          </a:ln>
        </p:spPr>
        <p:txBody>
          <a:bodyPr/>
          <a:p/>
        </p:txBody>
      </p:sp>
      <p:sp>
        <p:nvSpPr>
          <p:cNvPr id="21" name="Text 19"/>
          <p:cNvSpPr txBox="1"/>
          <p:nvPr/>
        </p:nvSpPr>
        <p:spPr>
          <a:xfrm>
            <a:off x="4160520" y="4901184"/>
            <a:ext cx="2377440" cy="320040"/>
          </a:xfrm>
          <a:prstGeom prst="rect">
            <a:avLst/>
          </a:prstGeom>
          <a:noFill/>
          <a:ln/>
        </p:spPr>
        <p:txBody>
          <a:bodyPr wrap="square" lIns="0" tIns="0" rIns="0" bIns="0" rtlCol="0" anchor="ctr"/>
          <a:lstStyle/>
          <a:p>
            <a:pPr indent="0" marL="0">
              <a:buNone/>
            </a:pPr>
            <a:r>
              <a:rPr lang="en-US" sz="1600" b="1" dirty="0">
                <a:solidFill>
                  <a:srgbClr val="1C1B18"/>
                </a:solidFill>
                <a:latin typeface="Arial" pitchFamily="34" charset="0"/>
                <a:ea typeface="Arial" pitchFamily="34" charset="-122"/>
                <a:cs typeface="Arial" pitchFamily="34" charset="-120"/>
              </a:rPr>
              <a:t>Answer model</a:t>
            </a:r>
            <a:endParaRPr lang="en-US" sz="1600" dirty="0"/>
          </a:p>
        </p:txBody>
      </p:sp>
      <p:sp>
        <p:nvSpPr>
          <p:cNvPr id="22" name="Text 20"/>
          <p:cNvSpPr txBox="1"/>
          <p:nvPr/>
        </p:nvSpPr>
        <p:spPr>
          <a:xfrm>
            <a:off x="4160520" y="5276088"/>
            <a:ext cx="2377440" cy="320040"/>
          </a:xfrm>
          <a:prstGeom prst="rect">
            <a:avLst/>
          </a:prstGeom>
          <a:noFill/>
          <a:ln/>
        </p:spPr>
        <p:txBody>
          <a:bodyPr wrap="square" lIns="0" tIns="0" rIns="0" bIns="0" rtlCol="0" anchor="ctr"/>
          <a:lstStyle/>
          <a:p>
            <a:pPr indent="0" marL="0">
              <a:buNone/>
            </a:pPr>
            <a:r>
              <a:rPr lang="en-US" sz="1400" dirty="0">
                <a:solidFill>
                  <a:srgbClr val="5F5C54"/>
                </a:solidFill>
                <a:latin typeface="Calibri" pitchFamily="34" charset="0"/>
                <a:ea typeface="Calibri" pitchFamily="34" charset="-122"/>
                <a:cs typeface="Calibri" pitchFamily="34" charset="-120"/>
              </a:rPr>
              <a:t>llama3.2 3B, optional</a:t>
            </a:r>
            <a:endParaRPr lang="en-US" sz="1400" dirty="0"/>
          </a:p>
        </p:txBody>
      </p:sp>
      <p:sp>
        <p:nvSpPr>
          <p:cNvPr id="23" name="Text 21"/>
          <p:cNvSpPr txBox="1"/>
          <p:nvPr/>
        </p:nvSpPr>
        <p:spPr>
          <a:xfrm>
            <a:off x="7269480" y="2514600"/>
            <a:ext cx="1508760" cy="274320"/>
          </a:xfrm>
          <a:prstGeom prst="rect">
            <a:avLst/>
          </a:prstGeom>
          <a:noFill/>
          <a:ln/>
        </p:spPr>
        <p:txBody>
          <a:bodyPr wrap="square" lIns="0" tIns="0" rIns="0" bIns="0" rtlCol="0" anchor="t"/>
          <a:lstStyle/>
          <a:p>
            <a:pPr algn="ctr" indent="0" marL="0">
              <a:buNone/>
            </a:pPr>
            <a:r>
              <a:rPr lang="en-US" sz="1400" b="1" dirty="0">
                <a:solidFill>
                  <a:srgbClr val="1C1B18"/>
                </a:solidFill>
                <a:latin typeface="Arial" pitchFamily="34" charset="0"/>
                <a:ea typeface="Arial" pitchFamily="34" charset="-122"/>
                <a:cs typeface="Arial" pitchFamily="34" charset="-120"/>
              </a:rPr>
              <a:t>Push</a:t>
            </a:r>
            <a:endParaRPr lang="en-US" sz="1400" dirty="0"/>
          </a:p>
        </p:txBody>
      </p:sp>
      <p:sp>
        <p:nvSpPr>
          <p:cNvPr id="24" name="Shape 22"/>
          <p:cNvSpPr/>
          <p:nvPr/>
        </p:nvSpPr>
        <p:spPr>
          <a:xfrm>
            <a:off x="7406640" y="2834640"/>
            <a:ext cx="1234440" cy="548640"/>
          </a:xfrm>
          <a:prstGeom prst="rightArrow">
            <a:avLst/>
          </a:prstGeom>
          <a:solidFill>
            <a:srgbClr val="C2410C"/>
          </a:solidFill>
          <a:ln w="12700">
            <a:solidFill>
              <a:srgbClr val="C2410C"/>
            </a:solidFill>
            <a:prstDash val="solid"/>
          </a:ln>
        </p:spPr>
        <p:txBody>
          <a:bodyPr/>
          <a:p/>
        </p:txBody>
      </p:sp>
      <p:sp>
        <p:nvSpPr>
          <p:cNvPr id="25" name="Text 23"/>
          <p:cNvSpPr txBox="1"/>
          <p:nvPr/>
        </p:nvSpPr>
        <p:spPr>
          <a:xfrm>
            <a:off x="7269480" y="3429000"/>
            <a:ext cx="1508760" cy="274320"/>
          </a:xfrm>
          <a:prstGeom prst="rect">
            <a:avLst/>
          </a:prstGeom>
          <a:noFill/>
          <a:ln/>
        </p:spPr>
        <p:txBody>
          <a:bodyPr wrap="square" lIns="0" tIns="0" rIns="0" bIns="0" rtlCol="0" anchor="t"/>
          <a:lstStyle/>
          <a:p>
            <a:pPr algn="ctr" indent="0" marL="0">
              <a:buNone/>
            </a:pPr>
            <a:r>
              <a:rPr lang="en-US" sz="1200" dirty="0">
                <a:solidFill>
                  <a:srgbClr val="5F5C54"/>
                </a:solidFill>
                <a:latin typeface="Calibri" pitchFamily="34" charset="0"/>
                <a:ea typeface="Calibri" pitchFamily="34" charset="-122"/>
                <a:cs typeface="Calibri" pitchFamily="34" charset="-120"/>
              </a:rPr>
              <a:t>compare and swap</a:t>
            </a:r>
            <a:endParaRPr lang="en-US" sz="1200" dirty="0"/>
          </a:p>
        </p:txBody>
      </p:sp>
      <p:sp>
        <p:nvSpPr>
          <p:cNvPr id="26" name="Text 24"/>
          <p:cNvSpPr txBox="1"/>
          <p:nvPr/>
        </p:nvSpPr>
        <p:spPr>
          <a:xfrm>
            <a:off x="7269480" y="4069080"/>
            <a:ext cx="1508760" cy="274320"/>
          </a:xfrm>
          <a:prstGeom prst="rect">
            <a:avLst/>
          </a:prstGeom>
          <a:noFill/>
          <a:ln/>
        </p:spPr>
        <p:txBody>
          <a:bodyPr wrap="square" lIns="0" tIns="0" rIns="0" bIns="0" rtlCol="0" anchor="t"/>
          <a:lstStyle/>
          <a:p>
            <a:pPr algn="ctr" indent="0" marL="0">
              <a:buNone/>
            </a:pPr>
            <a:r>
              <a:rPr lang="en-US" sz="1400" b="1" dirty="0">
                <a:solidFill>
                  <a:srgbClr val="1C1B18"/>
                </a:solidFill>
                <a:latin typeface="Arial" pitchFamily="34" charset="0"/>
                <a:ea typeface="Arial" pitchFamily="34" charset="-122"/>
                <a:cs typeface="Arial" pitchFamily="34" charset="-120"/>
              </a:rPr>
              <a:t>Pull</a:t>
            </a:r>
            <a:endParaRPr lang="en-US" sz="1400" dirty="0"/>
          </a:p>
        </p:txBody>
      </p:sp>
      <p:sp>
        <p:nvSpPr>
          <p:cNvPr id="27" name="Shape 25"/>
          <p:cNvSpPr/>
          <p:nvPr/>
        </p:nvSpPr>
        <p:spPr>
          <a:xfrm>
            <a:off x="7406640" y="4389120"/>
            <a:ext cx="1234440" cy="548640"/>
          </a:xfrm>
          <a:prstGeom prst="leftArrow">
            <a:avLst/>
          </a:prstGeom>
          <a:solidFill>
            <a:srgbClr val="1F5FD1"/>
          </a:solidFill>
          <a:ln w="12700">
            <a:solidFill>
              <a:srgbClr val="1F5FD1"/>
            </a:solidFill>
            <a:prstDash val="solid"/>
          </a:ln>
        </p:spPr>
        <p:txBody>
          <a:bodyPr/>
          <a:p/>
        </p:txBody>
      </p:sp>
      <p:sp>
        <p:nvSpPr>
          <p:cNvPr id="28" name="Text 26"/>
          <p:cNvSpPr txBox="1"/>
          <p:nvPr/>
        </p:nvSpPr>
        <p:spPr>
          <a:xfrm>
            <a:off x="7269480" y="4983480"/>
            <a:ext cx="1508760" cy="274320"/>
          </a:xfrm>
          <a:prstGeom prst="rect">
            <a:avLst/>
          </a:prstGeom>
          <a:noFill/>
          <a:ln/>
        </p:spPr>
        <p:txBody>
          <a:bodyPr wrap="square" lIns="0" tIns="0" rIns="0" bIns="0" rtlCol="0" anchor="t"/>
          <a:lstStyle/>
          <a:p>
            <a:pPr algn="ctr" indent="0" marL="0">
              <a:buNone/>
            </a:pPr>
            <a:r>
              <a:rPr lang="en-US" sz="1200" dirty="0">
                <a:solidFill>
                  <a:srgbClr val="5F5C54"/>
                </a:solidFill>
                <a:latin typeface="Calibri" pitchFamily="34" charset="0"/>
                <a:ea typeface="Calibri" pitchFamily="34" charset="-122"/>
                <a:cs typeface="Calibri" pitchFamily="34" charset="-120"/>
              </a:rPr>
              <a:t>diff or snapshot</a:t>
            </a:r>
            <a:endParaRPr lang="en-US" sz="1200" dirty="0"/>
          </a:p>
        </p:txBody>
      </p:sp>
      <p:sp>
        <p:nvSpPr>
          <p:cNvPr id="29" name="Shape 27"/>
          <p:cNvSpPr/>
          <p:nvPr/>
        </p:nvSpPr>
        <p:spPr>
          <a:xfrm>
            <a:off x="9006840" y="1691640"/>
            <a:ext cx="2544775" cy="4343400"/>
          </a:xfrm>
          <a:prstGeom prst="roundRect">
            <a:avLst>
              <a:gd name="adj" fmla="val 4312"/>
            </a:avLst>
          </a:prstGeom>
          <a:solidFill>
            <a:srgbClr val="161714"/>
          </a:solidFill>
          <a:ln w="12700">
            <a:solidFill>
              <a:srgbClr val="161714"/>
            </a:solidFill>
            <a:prstDash val="solid"/>
          </a:ln>
        </p:spPr>
        <p:txBody>
          <a:bodyPr/>
          <a:p/>
        </p:txBody>
      </p:sp>
      <p:sp>
        <p:nvSpPr>
          <p:cNvPr id="30" name="Text 28"/>
          <p:cNvSpPr txBox="1"/>
          <p:nvPr/>
        </p:nvSpPr>
        <p:spPr>
          <a:xfrm>
            <a:off x="9281160" y="1874520"/>
            <a:ext cx="1996135"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Qdrant Server</a:t>
            </a:r>
            <a:endParaRPr lang="en-US" sz="1800" dirty="0"/>
          </a:p>
        </p:txBody>
      </p:sp>
      <p:sp>
        <p:nvSpPr>
          <p:cNvPr id="31" name="Text 29"/>
          <p:cNvSpPr txBox="1"/>
          <p:nvPr/>
        </p:nvSpPr>
        <p:spPr>
          <a:xfrm>
            <a:off x="9281160" y="2468880"/>
            <a:ext cx="1996135"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BDBBB0"/>
                </a:solidFill>
                <a:latin typeface="Calibri" pitchFamily="34" charset="0"/>
                <a:ea typeface="Calibri" pitchFamily="34" charset="-122"/>
                <a:cs typeface="Calibri" pitchFamily="34" charset="-120"/>
              </a:rPr>
              <a:t>Shared notes</a:t>
            </a:r>
            <a:endParaRPr lang="en-US" sz="1500" dirty="0"/>
          </a:p>
          <a:p>
            <a:pPr marL="342900" indent="-342900">
              <a:spcAft>
                <a:spcPts val="800"/>
              </a:spcAft>
              <a:buSzPct val="100000"/>
              <a:buChar char="•"/>
            </a:pPr>
            <a:r>
              <a:rPr lang="en-US" sz="1500" dirty="0">
                <a:solidFill>
                  <a:srgbClr val="BDBBB0"/>
                </a:solidFill>
                <a:latin typeface="Calibri" pitchFamily="34" charset="0"/>
                <a:ea typeface="Calibri" pitchFamily="34" charset="-122"/>
                <a:cs typeface="Calibri" pitchFamily="34" charset="-120"/>
              </a:rPr>
              <a:t>Masked notes</a:t>
            </a:r>
            <a:endParaRPr lang="en-US" sz="1500" dirty="0"/>
          </a:p>
          <a:p>
            <a:pPr marL="342900" indent="-342900">
              <a:spcAft>
                <a:spcPts val="800"/>
              </a:spcAft>
              <a:buSzPct val="100000"/>
              <a:buChar char="•"/>
            </a:pPr>
            <a:r>
              <a:rPr lang="en-US" sz="1500" dirty="0">
                <a:solidFill>
                  <a:srgbClr val="BDBBB0"/>
                </a:solidFill>
                <a:latin typeface="Calibri" pitchFamily="34" charset="0"/>
                <a:ea typeface="Calibri" pitchFamily="34" charset="-122"/>
                <a:cs typeface="Calibri" pitchFamily="34" charset="-120"/>
              </a:rPr>
              <a:t>Headquarters manuals</a:t>
            </a:r>
            <a:endParaRPr lang="en-US" sz="1500" dirty="0"/>
          </a:p>
          <a:p>
            <a:pPr marL="342900" indent="-342900">
              <a:spcAft>
                <a:spcPts val="800"/>
              </a:spcAft>
              <a:buSzPct val="100000"/>
              <a:buChar char="•"/>
            </a:pPr>
            <a:r>
              <a:rPr lang="en-US" sz="1500" dirty="0">
                <a:solidFill>
                  <a:srgbClr val="BDBBB0"/>
                </a:solidFill>
                <a:latin typeface="Calibri" pitchFamily="34" charset="0"/>
                <a:ea typeface="Calibri" pitchFamily="34" charset="-122"/>
                <a:cs typeface="Calibri" pitchFamily="34" charset="-120"/>
              </a:rPr>
              <a:t>Photo thumbnails</a:t>
            </a:r>
            <a:endParaRPr lang="en-US" sz="1500" dirty="0"/>
          </a:p>
        </p:txBody>
      </p:sp>
      <p:sp>
        <p:nvSpPr>
          <p:cNvPr id="32" name="Text 30"/>
          <p:cNvSpPr txBox="1"/>
          <p:nvPr/>
        </p:nvSpPr>
        <p:spPr>
          <a:xfrm>
            <a:off x="9281160" y="5166360"/>
            <a:ext cx="1996135" cy="594360"/>
          </a:xfrm>
          <a:prstGeom prst="rect">
            <a:avLst/>
          </a:prstGeom>
          <a:noFill/>
          <a:ln/>
        </p:spPr>
        <p:txBody>
          <a:bodyPr wrap="square" lIns="0" tIns="0" rIns="0" bIns="0" rtlCol="0" anchor="b"/>
          <a:lstStyle/>
          <a:p>
            <a:pPr indent="0" marL="0">
              <a:buNone/>
            </a:pPr>
            <a:r>
              <a:rPr lang="en-US" sz="1400" dirty="0">
                <a:solidFill>
                  <a:srgbClr val="F29A4A"/>
                </a:solidFill>
                <a:latin typeface="Calibri" pitchFamily="34" charset="0"/>
                <a:ea typeface="Calibri" pitchFamily="34" charset="-122"/>
                <a:cs typeface="Calibri" pitchFamily="34" charset="-120"/>
              </a:rPr>
              <a:t>Other devices sync here, or with each other when it is gone</a:t>
            </a:r>
            <a:endParaRPr lang="en-US" sz="1400" dirty="0"/>
          </a:p>
        </p:txBody>
      </p:sp>
      <p:sp>
        <p:nvSpPr>
          <p:cNvPr id="33" name="Text 31"/>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5F5C54"/>
                </a:solidFill>
                <a:latin typeface="Courier New" pitchFamily="34" charset="0"/>
                <a:ea typeface="Courier New" pitchFamily="34" charset="-122"/>
                <a:cs typeface="Courier New"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868680"/>
          </a:xfrm>
          <a:prstGeom prst="rect">
            <a:avLst/>
          </a:prstGeom>
          <a:noFill/>
          <a:ln/>
        </p:spPr>
        <p:txBody>
          <a:bodyPr wrap="square" lIns="0" tIns="0" rIns="0" bIns="0" rtlCol="0" anchor="ctr"/>
          <a:lstStyle/>
          <a:p>
            <a:pPr indent="0" marL="0">
              <a:buNone/>
            </a:pPr>
            <a:r>
              <a:rPr lang="en-US" sz="3600" b="1" dirty="0">
                <a:solidFill>
                  <a:srgbClr val="1C1B18"/>
                </a:solidFill>
                <a:latin typeface="Arial" pitchFamily="34" charset="0"/>
                <a:ea typeface="Arial" pitchFamily="34" charset="-122"/>
                <a:cs typeface="Arial" pitchFamily="34" charset="-120"/>
              </a:rPr>
              <a:t>The device decides what leaves</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6675120"/>
                <a:gridCol w="4233672"/>
              </a:tblGrid>
              <a:tr h="548640">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the technician wrote</a:t>
                      </a:r>
                      <a:endParaRPr lang="en-US" sz="1400" dirty="0">
                        <a:latin typeface="Arial" charset="0"/>
                        <a:ea typeface="Arial" charset="0"/>
                        <a:cs typeface="Arial"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61714"/>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happens</a:t>
                      </a:r>
                      <a:endParaRPr lang="en-US" sz="1400" dirty="0">
                        <a:latin typeface="Arial" charset="0"/>
                        <a:ea typeface="Arial" charset="0"/>
                        <a:cs typeface="Arial"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61714"/>
                    </a:solidFill>
                  </a:tcPr>
                </a:tc>
              </a:tr>
              <a:tr h="548640">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Pump P-102 bearing vibration high at 7.2 mm/s</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b="1" dirty="0">
                          <a:solidFill>
                            <a:srgbClr val="1A6B40"/>
                          </a:solidFill>
                          <a:latin typeface="Calibri" pitchFamily="34" charset="0"/>
                          <a:ea typeface="Calibri" pitchFamily="34" charset="-122"/>
                          <a:cs typeface="Calibri" pitchFamily="34" charset="-120"/>
                        </a:rPr>
                        <a:t>Shared</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Smell of gas near compressor K-4</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b="1" dirty="0">
                          <a:solidFill>
                            <a:srgbClr val="1A6B40"/>
                          </a:solidFill>
                          <a:latin typeface="Calibri" pitchFamily="34" charset="0"/>
                          <a:ea typeface="Calibri" pitchFamily="34" charset="-122"/>
                          <a:cs typeface="Calibri" pitchFamily="34" charset="-120"/>
                        </a:rPr>
                        <a:t>Shared, urgent, sent first</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Suresh and Priya replaced the coupling, call 9876543210</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b="1" dirty="0">
                          <a:solidFill>
                            <a:srgbClr val="1F5FD1"/>
                          </a:solidFill>
                          <a:latin typeface="Calibri" pitchFamily="34" charset="0"/>
                          <a:ea typeface="Calibri" pitchFamily="34" charset="-122"/>
                          <a:cs typeface="Calibri" pitchFamily="34" charset="-120"/>
                        </a:rPr>
                        <a:t>Shared, names and number masked</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Technician Ravi Kumar reported chest pain</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b="1" dirty="0">
                          <a:solidFill>
                            <a:srgbClr val="A3360A"/>
                          </a:solidFill>
                          <a:latin typeface="Calibri" pitchFamily="34" charset="0"/>
                          <a:ea typeface="Calibri" pitchFamily="34" charset="-122"/>
                          <a:cs typeface="Calibri" pitchFamily="34" charset="-120"/>
                        </a:rPr>
                        <a:t>Private, stays on the device</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SCADA panel login password is …</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b="1" dirty="0">
                          <a:solidFill>
                            <a:srgbClr val="A3360A"/>
                          </a:solidFill>
                          <a:latin typeface="Calibri" pitchFamily="34" charset="0"/>
                          <a:ea typeface="Calibri" pitchFamily="34" charset="-122"/>
                          <a:cs typeface="Calibri" pitchFamily="34" charset="-120"/>
                        </a:rPr>
                        <a:t>Private, cannot be overridden</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4" name="Text 1"/>
          <p:cNvSpPr txBox="1"/>
          <p:nvPr/>
        </p:nvSpPr>
        <p:spPr>
          <a:xfrm>
            <a:off x="640080" y="5257800"/>
            <a:ext cx="10911535" cy="82296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Decided in about 20 ms on the device by a name recognition model, pattern detectors (credentials, contacts, identity numbers, vehicles, badges, addresses) and a semantic classifier. Vectors for a masked note are computed from the masked text. Override a decision and notes like it follow your choice from then on.</a:t>
            </a:r>
            <a:endParaRPr lang="en-US" sz="1600" dirty="0"/>
          </a:p>
        </p:txBody>
      </p:sp>
      <p:sp>
        <p:nvSpPr>
          <p:cNvPr id="5" name="Text 2"/>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5F5C54"/>
                </a:solidFill>
                <a:latin typeface="Courier New" pitchFamily="34" charset="0"/>
                <a:ea typeface="Courier New" pitchFamily="34" charset="-122"/>
                <a:cs typeface="Courier New"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868680"/>
          </a:xfrm>
          <a:prstGeom prst="rect">
            <a:avLst/>
          </a:prstGeom>
          <a:noFill/>
          <a:ln/>
        </p:spPr>
        <p:txBody>
          <a:bodyPr wrap="square" lIns="0" tIns="0" rIns="0" bIns="0" rtlCol="0" anchor="ctr"/>
          <a:lstStyle/>
          <a:p>
            <a:pPr indent="0" marL="0">
              <a:buNone/>
            </a:pPr>
            <a:r>
              <a:rPr lang="en-US" sz="3600" b="1" dirty="0">
                <a:solidFill>
                  <a:srgbClr val="1C1B18"/>
                </a:solidFill>
                <a:latin typeface="Arial" pitchFamily="34" charset="0"/>
                <a:ea typeface="Arial" pitchFamily="34" charset="-122"/>
                <a:cs typeface="Arial" pitchFamily="34" charset="-120"/>
              </a:rPr>
              <a:t>When two devices disagree</a:t>
            </a:r>
            <a:endParaRPr lang="en-US" sz="3600" dirty="0"/>
          </a:p>
        </p:txBody>
      </p:sp>
      <p:sp>
        <p:nvSpPr>
          <p:cNvPr id="3" name="Shape 1"/>
          <p:cNvSpPr/>
          <p:nvPr/>
        </p:nvSpPr>
        <p:spPr>
          <a:xfrm>
            <a:off x="640080" y="1801368"/>
            <a:ext cx="457200" cy="457200"/>
          </a:xfrm>
          <a:prstGeom prst="ellipse">
            <a:avLst/>
          </a:prstGeom>
          <a:solidFill>
            <a:srgbClr val="C2410C"/>
          </a:solidFill>
          <a:ln w="12700">
            <a:solidFill>
              <a:srgbClr val="C2410C"/>
            </a:solidFill>
            <a:prstDash val="solid"/>
          </a:ln>
        </p:spPr>
        <p:txBody>
          <a:bodyPr/>
          <a:p/>
        </p:txBody>
      </p:sp>
      <p:sp>
        <p:nvSpPr>
          <p:cNvPr id="4" name="Text 2"/>
          <p:cNvSpPr txBox="1"/>
          <p:nvPr/>
        </p:nvSpPr>
        <p:spPr>
          <a:xfrm>
            <a:off x="640080" y="18013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325880" y="1783080"/>
            <a:ext cx="3246120" cy="411480"/>
          </a:xfrm>
          <a:prstGeom prst="rect">
            <a:avLst/>
          </a:prstGeom>
          <a:noFill/>
          <a:ln/>
        </p:spPr>
        <p:txBody>
          <a:bodyPr wrap="square" lIns="0" tIns="0" rIns="0" bIns="0" rtlCol="0" anchor="ctr"/>
          <a:lstStyle/>
          <a:p>
            <a:pPr indent="0" marL="0">
              <a:buNone/>
            </a:pPr>
            <a:r>
              <a:rPr lang="en-US" sz="2000" b="1" dirty="0">
                <a:solidFill>
                  <a:srgbClr val="1C1B18"/>
                </a:solidFill>
                <a:latin typeface="Arial" pitchFamily="34" charset="0"/>
                <a:ea typeface="Arial" pitchFamily="34" charset="-122"/>
                <a:cs typeface="Arial" pitchFamily="34" charset="-120"/>
              </a:rPr>
              <a:t>Nothing is overwritten</a:t>
            </a:r>
            <a:endParaRPr lang="en-US" sz="2000" dirty="0"/>
          </a:p>
        </p:txBody>
      </p:sp>
      <p:sp>
        <p:nvSpPr>
          <p:cNvPr id="6" name="Text 4"/>
          <p:cNvSpPr txBox="1"/>
          <p:nvPr/>
        </p:nvSpPr>
        <p:spPr>
          <a:xfrm>
            <a:off x="1325880" y="2240280"/>
            <a:ext cx="3246120" cy="77724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An upload only lands if the cloud is still at the version the device last saw. An edit made mid-upload is rebased, not lost.</a:t>
            </a:r>
            <a:endParaRPr lang="en-US" sz="1600" dirty="0"/>
          </a:p>
        </p:txBody>
      </p:sp>
      <p:sp>
        <p:nvSpPr>
          <p:cNvPr id="7" name="Shape 5"/>
          <p:cNvSpPr/>
          <p:nvPr/>
        </p:nvSpPr>
        <p:spPr>
          <a:xfrm>
            <a:off x="640080" y="3172968"/>
            <a:ext cx="457200" cy="457200"/>
          </a:xfrm>
          <a:prstGeom prst="ellipse">
            <a:avLst/>
          </a:prstGeom>
          <a:solidFill>
            <a:srgbClr val="C2410C"/>
          </a:solidFill>
          <a:ln w="12700">
            <a:solidFill>
              <a:srgbClr val="C2410C"/>
            </a:solidFill>
            <a:prstDash val="solid"/>
          </a:ln>
        </p:spPr>
        <p:txBody>
          <a:bodyPr/>
          <a:p/>
        </p:txBody>
      </p:sp>
      <p:sp>
        <p:nvSpPr>
          <p:cNvPr id="8" name="Text 6"/>
          <p:cNvSpPr txBox="1"/>
          <p:nvPr/>
        </p:nvSpPr>
        <p:spPr>
          <a:xfrm>
            <a:off x="640080" y="31729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325880" y="3154680"/>
            <a:ext cx="3246120" cy="411480"/>
          </a:xfrm>
          <a:prstGeom prst="rect">
            <a:avLst/>
          </a:prstGeom>
          <a:noFill/>
          <a:ln/>
        </p:spPr>
        <p:txBody>
          <a:bodyPr wrap="square" lIns="0" tIns="0" rIns="0" bIns="0" rtlCol="0" anchor="ctr"/>
          <a:lstStyle/>
          <a:p>
            <a:pPr indent="0" marL="0">
              <a:buNone/>
            </a:pPr>
            <a:r>
              <a:rPr lang="en-US" sz="2000" b="1" dirty="0">
                <a:solidFill>
                  <a:srgbClr val="1C1B18"/>
                </a:solidFill>
                <a:latin typeface="Arial" pitchFamily="34" charset="0"/>
                <a:ea typeface="Arial" pitchFamily="34" charset="-122"/>
                <a:cs typeface="Arial" pitchFamily="34" charset="-120"/>
              </a:rPr>
              <a:t>Most edits merge</a:t>
            </a:r>
            <a:endParaRPr lang="en-US" sz="2000" dirty="0"/>
          </a:p>
        </p:txBody>
      </p:sp>
      <p:sp>
        <p:nvSpPr>
          <p:cNvPr id="10" name="Text 8"/>
          <p:cNvSpPr txBox="1"/>
          <p:nvPr/>
        </p:nvSpPr>
        <p:spPr>
          <a:xfrm>
            <a:off x="1325880" y="3611880"/>
            <a:ext cx="3246120" cy="77724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Changes to different fields combine automatically.</a:t>
            </a:r>
            <a:endParaRPr lang="en-US" sz="1600" dirty="0"/>
          </a:p>
        </p:txBody>
      </p:sp>
      <p:sp>
        <p:nvSpPr>
          <p:cNvPr id="11" name="Shape 9"/>
          <p:cNvSpPr/>
          <p:nvPr/>
        </p:nvSpPr>
        <p:spPr>
          <a:xfrm>
            <a:off x="640080" y="4544568"/>
            <a:ext cx="457200" cy="457200"/>
          </a:xfrm>
          <a:prstGeom prst="ellipse">
            <a:avLst/>
          </a:prstGeom>
          <a:solidFill>
            <a:srgbClr val="C2410C"/>
          </a:solidFill>
          <a:ln w="12700">
            <a:solidFill>
              <a:srgbClr val="C2410C"/>
            </a:solidFill>
            <a:prstDash val="solid"/>
          </a:ln>
        </p:spPr>
        <p:txBody>
          <a:bodyPr/>
          <a:p/>
        </p:txBody>
      </p:sp>
      <p:sp>
        <p:nvSpPr>
          <p:cNvPr id="12" name="Text 10"/>
          <p:cNvSpPr txBox="1"/>
          <p:nvPr/>
        </p:nvSpPr>
        <p:spPr>
          <a:xfrm>
            <a:off x="640080" y="45445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3" name="Text 11"/>
          <p:cNvSpPr txBox="1"/>
          <p:nvPr/>
        </p:nvSpPr>
        <p:spPr>
          <a:xfrm>
            <a:off x="1325880" y="4526280"/>
            <a:ext cx="3246120" cy="411480"/>
          </a:xfrm>
          <a:prstGeom prst="rect">
            <a:avLst/>
          </a:prstGeom>
          <a:noFill/>
          <a:ln/>
        </p:spPr>
        <p:txBody>
          <a:bodyPr wrap="square" lIns="0" tIns="0" rIns="0" bIns="0" rtlCol="0" anchor="ctr"/>
          <a:lstStyle/>
          <a:p>
            <a:pPr indent="0" marL="0">
              <a:buNone/>
            </a:pPr>
            <a:r>
              <a:rPr lang="en-US" sz="2000" b="1" dirty="0">
                <a:solidFill>
                  <a:srgbClr val="1C1B18"/>
                </a:solidFill>
                <a:latin typeface="Arial" pitchFamily="34" charset="0"/>
                <a:ea typeface="Arial" pitchFamily="34" charset="-122"/>
                <a:cs typeface="Arial" pitchFamily="34" charset="-120"/>
              </a:rPr>
              <a:t>A person settles the rest</a:t>
            </a:r>
            <a:endParaRPr lang="en-US" sz="2000" dirty="0"/>
          </a:p>
        </p:txBody>
      </p:sp>
      <p:sp>
        <p:nvSpPr>
          <p:cNvPr id="14" name="Text 12"/>
          <p:cNvSpPr txBox="1"/>
          <p:nvPr/>
        </p:nvSpPr>
        <p:spPr>
          <a:xfrm>
            <a:off x="1325880" y="4983480"/>
            <a:ext cx="3246120" cy="77724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Keep mine, accept theirs, keep both or combine. Even while offline. One click stages a conflict for the demo.</a:t>
            </a:r>
            <a:endParaRPr lang="en-US" sz="1600" dirty="0"/>
          </a:p>
        </p:txBody>
      </p:sp>
      <p:sp>
        <p:nvSpPr>
          <p:cNvPr id="15" name="Shape 13"/>
          <p:cNvSpPr/>
          <p:nvPr/>
        </p:nvSpPr>
        <p:spPr>
          <a:xfrm>
            <a:off x="4965192" y="1764792"/>
            <a:ext cx="6601968" cy="4139946"/>
          </a:xfrm>
          <a:prstGeom prst="rect">
            <a:avLst/>
          </a:prstGeom>
          <a:solidFill>
            <a:srgbClr val="FFFFFF"/>
          </a:solidFill>
          <a:ln w="9525">
            <a:solidFill>
              <a:srgbClr val="D9D9D4"/>
            </a:solidFill>
            <a:prstDash val="solid"/>
          </a:ln>
          <a:effectLst>
            <a:outerShdw sx="100000" sy="100000" kx="0" ky="0" algn="bl" rotWithShape="0" blurRad="152400" dist="38100" dir="5400000">
              <a:srgbClr val="000000">
                <a:alpha val="18000"/>
              </a:srgbClr>
            </a:outerShdw>
          </a:effectLst>
        </p:spPr>
        <p:txBody>
          <a:bodyPr/>
          <a:p/>
        </p:txBody>
      </p:sp>
      <p:sp>
        <p:nvSpPr>
          <p:cNvPr id="17" name="Text 14"/>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5F5C54"/>
                </a:solidFill>
                <a:latin typeface="Courier New" pitchFamily="34" charset="0"/>
                <a:ea typeface="Courier New" pitchFamily="34" charset="-122"/>
                <a:cs typeface="Courier New" pitchFamily="34" charset="-120"/>
              </a:rPr>
              <a:t>06</a:t>
            </a:r>
            <a:endParaRPr lang="en-US" sz="1100" dirty="0"/>
          </a:p>
        </p:txBody>
      </p:sp>
      <p:pic>
        <p:nvPicPr>
          <p:cNvPr id="18" name="Picture 17" descr="conflict.png"/>
          <p:cNvPicPr>
            <a:picLocks noChangeAspect="1"/>
          </p:cNvPicPr>
          <p:nvPr/>
        </p:nvPicPr>
        <p:blipFill>
          <a:blip r:embed="rId5"/>
          <a:stretch>
            <a:fillRect/>
          </a:stretch>
        </p:blipFill>
        <p:spPr>
          <a:xfrm>
            <a:off x="4983480" y="1783080"/>
            <a:ext cx="6565392" cy="41033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868680"/>
          </a:xfrm>
          <a:prstGeom prst="rect">
            <a:avLst/>
          </a:prstGeom>
          <a:noFill/>
          <a:ln/>
        </p:spPr>
        <p:txBody>
          <a:bodyPr wrap="square" lIns="0" tIns="0" rIns="0" bIns="0" rtlCol="0" anchor="ctr"/>
          <a:lstStyle/>
          <a:p>
            <a:pPr indent="0" marL="0">
              <a:buNone/>
            </a:pPr>
            <a:r>
              <a:rPr lang="en-US" sz="3600" b="1" dirty="0">
                <a:solidFill>
                  <a:srgbClr val="1C1B18"/>
                </a:solidFill>
                <a:latin typeface="Arial" pitchFamily="34" charset="0"/>
                <a:ea typeface="Arial" pitchFamily="34" charset="-122"/>
                <a:cs typeface="Arial" pitchFamily="34" charset="-120"/>
              </a:rPr>
              <a:t>What Qdrant does for us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3840480"/>
                <a:gridCol w="7068312"/>
              </a:tblGrid>
              <a:tr h="548640">
                <a:tc>
                  <a:txBody>
                    <a:bodyPr/>
                    <a:lstStyle/>
                    <a:p>
                      <a:pPr indent="0" marL="0">
                        <a:buNone/>
                      </a:pPr>
                      <a:r>
                        <a:rPr lang="en-US" sz="1400" b="1" dirty="0">
                          <a:solidFill>
                            <a:srgbClr val="FFFFFF"/>
                          </a:solidFill>
                          <a:latin typeface="Arial" pitchFamily="34" charset="0"/>
                          <a:ea typeface="Arial" pitchFamily="34" charset="-122"/>
                          <a:cs typeface="Arial" pitchFamily="34" charset="-120"/>
                        </a:rPr>
                        <a:t>Qdrant feature</a:t>
                      </a:r>
                      <a:endParaRPr lang="en-US" sz="1400" dirty="0">
                        <a:latin typeface="Arial" charset="0"/>
                        <a:ea typeface="Arial" charset="0"/>
                        <a:cs typeface="Arial"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61714"/>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How FieldMind uses it</a:t>
                      </a:r>
                      <a:endParaRPr lang="en-US" sz="1400" dirty="0">
                        <a:latin typeface="Arial" charset="0"/>
                        <a:ea typeface="Arial" charset="0"/>
                        <a:cs typeface="Arial"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rgbClr val="161714"/>
                    </a:solidFill>
                  </a:tcPr>
                </a:tc>
              </a:tr>
              <a:tr h="548640">
                <a:tc>
                  <a:txBody>
                    <a:bodyPr/>
                    <a:lstStyle/>
                    <a:p>
                      <a:pPr indent="0" marL="0">
                        <a:buNone/>
                      </a:pPr>
                      <a:r>
                        <a:rPr lang="en-US" sz="1600" b="1" dirty="0">
                          <a:solidFill>
                            <a:srgbClr val="1C1B18"/>
                          </a:solidFill>
                          <a:latin typeface="Calibri" pitchFamily="34" charset="0"/>
                          <a:ea typeface="Calibri" pitchFamily="34" charset="-122"/>
                          <a:cs typeface="Calibri" pitchFamily="34" charset="-120"/>
                        </a:rPr>
                        <a:t>Edge shards, in process</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Three per device: local notes, a cloud replica, and photos with a CLIP vector each</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b="1" dirty="0">
                          <a:solidFill>
                            <a:srgbClr val="1C1B18"/>
                          </a:solidFill>
                          <a:latin typeface="Calibri" pitchFamily="34" charset="0"/>
                          <a:ea typeface="Calibri" pitchFamily="34" charset="-122"/>
                          <a:cs typeface="Calibri" pitchFamily="34" charset="-120"/>
                        </a:rPr>
                        <a:t>Built-in BM25 with IDF</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Keyword half of hybrid search, with no server</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b="1" dirty="0">
                          <a:solidFill>
                            <a:srgbClr val="1C1B18"/>
                          </a:solidFill>
                          <a:latin typeface="Calibri" pitchFamily="34" charset="0"/>
                          <a:ea typeface="Calibri" pitchFamily="34" charset="-122"/>
                          <a:cs typeface="Calibri" pitchFamily="34" charset="-120"/>
                        </a:rPr>
                        <a:t>Dense vectors and filters</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Meaning search narrowed by asset, scope and status; photos found by what they show</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b="1" dirty="0">
                          <a:solidFill>
                            <a:srgbClr val="1C1B18"/>
                          </a:solidFill>
                          <a:latin typeface="Calibri" pitchFamily="34" charset="0"/>
                          <a:ea typeface="Calibri" pitchFamily="34" charset="-122"/>
                          <a:cs typeface="Calibri" pitchFamily="34" charset="-120"/>
                        </a:rPr>
                        <a:t>Shard snapshots</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A device far behind restores its replica from one file</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b="1" dirty="0">
                          <a:solidFill>
                            <a:srgbClr val="1C1B18"/>
                          </a:solidFill>
                          <a:latin typeface="Calibri" pitchFamily="34" charset="0"/>
                          <a:ea typeface="Calibri" pitchFamily="34" charset="-122"/>
                          <a:cs typeface="Calibri" pitchFamily="34" charset="-120"/>
                        </a:rPr>
                        <a:t>Conditional upsert and payload overwrite</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Compare and swap, so devices never clobber each other; payload-only patches skip the vectors</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548640">
                <a:tc>
                  <a:txBody>
                    <a:bodyPr/>
                    <a:lstStyle/>
                    <a:p>
                      <a:pPr indent="0" marL="0">
                        <a:buNone/>
                      </a:pPr>
                      <a:r>
                        <a:rPr lang="en-US" sz="1600" b="1" dirty="0">
                          <a:solidFill>
                            <a:srgbClr val="1C1B18"/>
                          </a:solidFill>
                          <a:latin typeface="Calibri" pitchFamily="34" charset="0"/>
                          <a:ea typeface="Calibri" pitchFamily="34" charset="-122"/>
                          <a:cs typeface="Calibri" pitchFamily="34" charset="-120"/>
                        </a:rPr>
                        <a:t>One schema on both sides</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rgbClr val="1C1B18"/>
                          </a:solidFill>
                          <a:latin typeface="Calibri" pitchFamily="34" charset="0"/>
                          <a:ea typeface="Calibri" pitchFamily="34" charset="-122"/>
                          <a:cs typeface="Calibri" pitchFamily="34" charset="-120"/>
                        </a:rPr>
                        <a:t>The same dense and sparse vectors on edge and server, versioned payloads</a:t>
                      </a:r>
                      <a:endParaRPr lang="en-US" sz="1600" dirty="0">
                        <a:latin typeface="Calibri" charset="0"/>
                        <a:ea typeface="Calibri" charset="0"/>
                        <a:cs typeface="Calibri" charset="0"/>
                      </a:endParaRPr>
                    </a:p>
                  </a:txBody>
                  <a:tcPr marL="146304" marR="109728" marT="45720" marB="4572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4" name="Text 1"/>
          <p:cNvSpPr txBox="1"/>
          <p:nvPr/>
        </p:nvSpPr>
        <p:spPr>
          <a:xfrm>
            <a:off x="640080" y="5806440"/>
            <a:ext cx="7315200" cy="274320"/>
          </a:xfrm>
          <a:prstGeom prst="rect">
            <a:avLst/>
          </a:prstGeom>
          <a:noFill/>
          <a:ln/>
        </p:spPr>
        <p:txBody>
          <a:bodyPr wrap="square" lIns="0" tIns="0" rIns="0" bIns="0" rtlCol="0" anchor="t"/>
          <a:lstStyle/>
          <a:p>
            <a:pPr indent="0" marL="0">
              <a:buNone/>
            </a:pPr>
            <a:r>
              <a:rPr lang="en-US" sz="1200" dirty="0">
                <a:solidFill>
                  <a:srgbClr val="5F5C54"/>
                </a:solidFill>
                <a:latin typeface="Courier New" pitchFamily="34" charset="0"/>
                <a:ea typeface="Courier New" pitchFamily="34" charset="-122"/>
                <a:cs typeface="Courier New" pitchFamily="34" charset="-120"/>
              </a:rPr>
              <a:t>qdrant-edge-py 0.8.0 with Qdrant Server 1.19.2, pinned and tested in CI</a:t>
            </a:r>
            <a:endParaRPr lang="en-US" sz="1200" dirty="0"/>
          </a:p>
        </p:txBody>
      </p:sp>
      <p:sp>
        <p:nvSpPr>
          <p:cNvPr id="5" name="Text 2"/>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5F5C54"/>
                </a:solidFill>
                <a:latin typeface="Courier New" pitchFamily="34" charset="0"/>
                <a:ea typeface="Courier New" pitchFamily="34" charset="-122"/>
                <a:cs typeface="Courier New"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868680"/>
          </a:xfrm>
          <a:prstGeom prst="rect">
            <a:avLst/>
          </a:prstGeom>
          <a:noFill/>
          <a:ln/>
        </p:spPr>
        <p:txBody>
          <a:bodyPr wrap="square" lIns="0" tIns="0" rIns="0" bIns="0" rtlCol="0" anchor="ctr"/>
          <a:lstStyle/>
          <a:p>
            <a:pPr indent="0" marL="0">
              <a:buNone/>
            </a:pPr>
            <a:r>
              <a:rPr lang="en-US" sz="3600" b="1" dirty="0">
                <a:solidFill>
                  <a:srgbClr val="1C1B18"/>
                </a:solidFill>
                <a:latin typeface="Arial" pitchFamily="34" charset="0"/>
                <a:ea typeface="Arial" pitchFamily="34" charset="-122"/>
                <a:cs typeface="Arial" pitchFamily="34" charset="-120"/>
              </a:rPr>
              <a:t>Measured, not estimated</a:t>
            </a:r>
            <a:endParaRPr lang="en-US" sz="3600" dirty="0"/>
          </a:p>
        </p:txBody>
      </p:sp>
      <p:sp>
        <p:nvSpPr>
          <p:cNvPr id="3" name="Shape 1"/>
          <p:cNvSpPr/>
          <p:nvPr/>
        </p:nvSpPr>
        <p:spPr>
          <a:xfrm>
            <a:off x="640080" y="1691640"/>
            <a:ext cx="3419856" cy="1874520"/>
          </a:xfrm>
          <a:prstGeom prst="roundRect">
            <a:avLst>
              <a:gd name="adj" fmla="val 5854"/>
            </a:avLst>
          </a:prstGeom>
          <a:solidFill>
            <a:srgbClr val="F3F4F2"/>
          </a:solidFill>
          <a:ln w="12700">
            <a:solidFill>
              <a:srgbClr val="F3F4F2"/>
            </a:solidFill>
            <a:prstDash val="solid"/>
          </a:ln>
        </p:spPr>
        <p:txBody>
          <a:bodyPr/>
          <a:p/>
        </p:txBody>
      </p:sp>
      <p:sp>
        <p:nvSpPr>
          <p:cNvPr id="4" name="Text 2"/>
          <p:cNvSpPr txBox="1"/>
          <p:nvPr/>
        </p:nvSpPr>
        <p:spPr>
          <a:xfrm>
            <a:off x="960120" y="1874520"/>
            <a:ext cx="2779776" cy="960120"/>
          </a:xfrm>
          <a:prstGeom prst="rect">
            <a:avLst/>
          </a:prstGeom>
          <a:noFill/>
          <a:ln/>
        </p:spPr>
        <p:txBody>
          <a:bodyPr wrap="square" lIns="0" tIns="0" rIns="0" bIns="0" rtlCol="0" anchor="ctr"/>
          <a:lstStyle/>
          <a:p>
            <a:pPr indent="0" marL="0">
              <a:buNone/>
            </a:pPr>
            <a:r>
              <a:rPr lang="en-US" sz="5400" b="1" dirty="0">
                <a:solidFill>
                  <a:srgbClr val="C2410C"/>
                </a:solidFill>
                <a:latin typeface="Arial" pitchFamily="34" charset="0"/>
                <a:ea typeface="Arial" pitchFamily="34" charset="-122"/>
                <a:cs typeface="Arial" pitchFamily="34" charset="-120"/>
              </a:rPr>
              <a:t>1 ms</a:t>
            </a:r>
            <a:endParaRPr lang="en-US" sz="5400" dirty="0"/>
          </a:p>
        </p:txBody>
      </p:sp>
      <p:sp>
        <p:nvSpPr>
          <p:cNvPr id="5" name="Text 3"/>
          <p:cNvSpPr txBox="1"/>
          <p:nvPr/>
        </p:nvSpPr>
        <p:spPr>
          <a:xfrm>
            <a:off x="960120" y="2880360"/>
            <a:ext cx="2779776" cy="50292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hybrid search across both shards</a:t>
            </a:r>
            <a:endParaRPr lang="en-US" sz="1600" dirty="0"/>
          </a:p>
        </p:txBody>
      </p:sp>
      <p:sp>
        <p:nvSpPr>
          <p:cNvPr id="6" name="Shape 4"/>
          <p:cNvSpPr/>
          <p:nvPr/>
        </p:nvSpPr>
        <p:spPr>
          <a:xfrm>
            <a:off x="4384548" y="1691640"/>
            <a:ext cx="3419856" cy="1874520"/>
          </a:xfrm>
          <a:prstGeom prst="roundRect">
            <a:avLst>
              <a:gd name="adj" fmla="val 5854"/>
            </a:avLst>
          </a:prstGeom>
          <a:solidFill>
            <a:srgbClr val="F3F4F2"/>
          </a:solidFill>
          <a:ln w="12700">
            <a:solidFill>
              <a:srgbClr val="F3F4F2"/>
            </a:solidFill>
            <a:prstDash val="solid"/>
          </a:ln>
        </p:spPr>
        <p:txBody>
          <a:bodyPr/>
          <a:p/>
        </p:txBody>
      </p:sp>
      <p:sp>
        <p:nvSpPr>
          <p:cNvPr id="7" name="Text 5"/>
          <p:cNvSpPr txBox="1"/>
          <p:nvPr/>
        </p:nvSpPr>
        <p:spPr>
          <a:xfrm>
            <a:off x="4704588" y="1874520"/>
            <a:ext cx="2779776" cy="960120"/>
          </a:xfrm>
          <a:prstGeom prst="rect">
            <a:avLst/>
          </a:prstGeom>
          <a:noFill/>
          <a:ln/>
        </p:spPr>
        <p:txBody>
          <a:bodyPr wrap="square" lIns="0" tIns="0" rIns="0" bIns="0" rtlCol="0" anchor="ctr"/>
          <a:lstStyle/>
          <a:p>
            <a:pPr indent="0" marL="0">
              <a:buNone/>
            </a:pPr>
            <a:r>
              <a:rPr lang="en-US" sz="5400" b="1" dirty="0">
                <a:solidFill>
                  <a:srgbClr val="C2410C"/>
                </a:solidFill>
                <a:latin typeface="Arial" pitchFamily="34" charset="0"/>
                <a:ea typeface="Arial" pitchFamily="34" charset="-122"/>
                <a:cs typeface="Arial" pitchFamily="34" charset="-120"/>
              </a:rPr>
              <a:t>0</a:t>
            </a:r>
            <a:endParaRPr lang="en-US" sz="5400" dirty="0"/>
          </a:p>
        </p:txBody>
      </p:sp>
      <p:sp>
        <p:nvSpPr>
          <p:cNvPr id="8" name="Text 6"/>
          <p:cNvSpPr txBox="1"/>
          <p:nvPr/>
        </p:nvSpPr>
        <p:spPr>
          <a:xfrm>
            <a:off x="4704588" y="2880360"/>
            <a:ext cx="2779776" cy="50292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network calls to search, answer or find a photo</a:t>
            </a:r>
            <a:endParaRPr lang="en-US" sz="1600" dirty="0"/>
          </a:p>
        </p:txBody>
      </p:sp>
      <p:sp>
        <p:nvSpPr>
          <p:cNvPr id="9" name="Shape 7"/>
          <p:cNvSpPr/>
          <p:nvPr/>
        </p:nvSpPr>
        <p:spPr>
          <a:xfrm>
            <a:off x="8129016" y="1691640"/>
            <a:ext cx="3419856" cy="1874520"/>
          </a:xfrm>
          <a:prstGeom prst="roundRect">
            <a:avLst>
              <a:gd name="adj" fmla="val 5854"/>
            </a:avLst>
          </a:prstGeom>
          <a:solidFill>
            <a:srgbClr val="F3F4F2"/>
          </a:solidFill>
          <a:ln w="12700">
            <a:solidFill>
              <a:srgbClr val="F3F4F2"/>
            </a:solidFill>
            <a:prstDash val="solid"/>
          </a:ln>
        </p:spPr>
        <p:txBody>
          <a:bodyPr/>
          <a:p/>
        </p:txBody>
      </p:sp>
      <p:sp>
        <p:nvSpPr>
          <p:cNvPr id="10" name="Text 8"/>
          <p:cNvSpPr txBox="1"/>
          <p:nvPr/>
        </p:nvSpPr>
        <p:spPr>
          <a:xfrm>
            <a:off x="8449056" y="1874520"/>
            <a:ext cx="2779776" cy="960120"/>
          </a:xfrm>
          <a:prstGeom prst="rect">
            <a:avLst/>
          </a:prstGeom>
          <a:noFill/>
          <a:ln/>
        </p:spPr>
        <p:txBody>
          <a:bodyPr wrap="square" lIns="0" tIns="0" rIns="0" bIns="0" rtlCol="0" anchor="ctr"/>
          <a:lstStyle/>
          <a:p>
            <a:pPr indent="0" marL="0">
              <a:buNone/>
            </a:pPr>
            <a:r>
              <a:rPr lang="en-US" sz="5400" b="1" dirty="0">
                <a:solidFill>
                  <a:srgbClr val="C2410C"/>
                </a:solidFill>
                <a:latin typeface="Arial" pitchFamily="34" charset="0"/>
                <a:ea typeface="Arial" pitchFamily="34" charset="-122"/>
                <a:cs typeface="Arial" pitchFamily="34" charset="-120"/>
              </a:rPr>
              <a:t>20 ms</a:t>
            </a:r>
            <a:endParaRPr lang="en-US" sz="5400" dirty="0"/>
          </a:p>
        </p:txBody>
      </p:sp>
      <p:sp>
        <p:nvSpPr>
          <p:cNvPr id="11" name="Text 9"/>
          <p:cNvSpPr txBox="1"/>
          <p:nvPr/>
        </p:nvSpPr>
        <p:spPr>
          <a:xfrm>
            <a:off x="8449056" y="2880360"/>
            <a:ext cx="2779776" cy="50292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to decide what may leave the device</a:t>
            </a:r>
            <a:endParaRPr lang="en-US" sz="1600" dirty="0"/>
          </a:p>
        </p:txBody>
      </p:sp>
      <p:sp>
        <p:nvSpPr>
          <p:cNvPr id="12" name="Shape 10"/>
          <p:cNvSpPr/>
          <p:nvPr/>
        </p:nvSpPr>
        <p:spPr>
          <a:xfrm>
            <a:off x="640080" y="3840480"/>
            <a:ext cx="3419856" cy="1874520"/>
          </a:xfrm>
          <a:prstGeom prst="roundRect">
            <a:avLst>
              <a:gd name="adj" fmla="val 5854"/>
            </a:avLst>
          </a:prstGeom>
          <a:solidFill>
            <a:srgbClr val="F3F4F2"/>
          </a:solidFill>
          <a:ln w="12700">
            <a:solidFill>
              <a:srgbClr val="F3F4F2"/>
            </a:solidFill>
            <a:prstDash val="solid"/>
          </a:ln>
        </p:spPr>
        <p:txBody>
          <a:bodyPr/>
          <a:p/>
        </p:txBody>
      </p:sp>
      <p:sp>
        <p:nvSpPr>
          <p:cNvPr id="13" name="Text 11"/>
          <p:cNvSpPr txBox="1"/>
          <p:nvPr/>
        </p:nvSpPr>
        <p:spPr>
          <a:xfrm>
            <a:off x="960120" y="4023360"/>
            <a:ext cx="2779776" cy="960120"/>
          </a:xfrm>
          <a:prstGeom prst="rect">
            <a:avLst/>
          </a:prstGeom>
          <a:noFill/>
          <a:ln/>
        </p:spPr>
        <p:txBody>
          <a:bodyPr wrap="square" lIns="0" tIns="0" rIns="0" bIns="0" rtlCol="0" anchor="ctr"/>
          <a:lstStyle/>
          <a:p>
            <a:pPr indent="0" marL="0">
              <a:buNone/>
            </a:pPr>
            <a:r>
              <a:rPr lang="en-US" sz="5400" b="1" dirty="0">
                <a:solidFill>
                  <a:srgbClr val="C2410C"/>
                </a:solidFill>
                <a:latin typeface="Arial" pitchFamily="34" charset="0"/>
                <a:ea typeface="Arial" pitchFamily="34" charset="-122"/>
                <a:cs typeface="Arial" pitchFamily="34" charset="-120"/>
              </a:rPr>
              <a:t>1–3 s</a:t>
            </a:r>
            <a:endParaRPr lang="en-US" sz="5400" dirty="0"/>
          </a:p>
        </p:txBody>
      </p:sp>
      <p:sp>
        <p:nvSpPr>
          <p:cNvPr id="14" name="Text 12"/>
          <p:cNvSpPr txBox="1"/>
          <p:nvPr/>
        </p:nvSpPr>
        <p:spPr>
          <a:xfrm>
            <a:off x="960120" y="5029200"/>
            <a:ext cx="2779776" cy="50292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for a cited answer from a 3B model</a:t>
            </a:r>
            <a:endParaRPr lang="en-US" sz="1600" dirty="0"/>
          </a:p>
        </p:txBody>
      </p:sp>
      <p:sp>
        <p:nvSpPr>
          <p:cNvPr id="15" name="Shape 13"/>
          <p:cNvSpPr/>
          <p:nvPr/>
        </p:nvSpPr>
        <p:spPr>
          <a:xfrm>
            <a:off x="4384548" y="3840480"/>
            <a:ext cx="3419856" cy="1874520"/>
          </a:xfrm>
          <a:prstGeom prst="roundRect">
            <a:avLst>
              <a:gd name="adj" fmla="val 5854"/>
            </a:avLst>
          </a:prstGeom>
          <a:solidFill>
            <a:srgbClr val="F3F4F2"/>
          </a:solidFill>
          <a:ln w="12700">
            <a:solidFill>
              <a:srgbClr val="F3F4F2"/>
            </a:solidFill>
            <a:prstDash val="solid"/>
          </a:ln>
        </p:spPr>
        <p:txBody>
          <a:bodyPr/>
          <a:p/>
        </p:txBody>
      </p:sp>
      <p:sp>
        <p:nvSpPr>
          <p:cNvPr id="16" name="Text 14"/>
          <p:cNvSpPr txBox="1"/>
          <p:nvPr/>
        </p:nvSpPr>
        <p:spPr>
          <a:xfrm>
            <a:off x="4704588" y="4023360"/>
            <a:ext cx="2779776" cy="960120"/>
          </a:xfrm>
          <a:prstGeom prst="rect">
            <a:avLst/>
          </a:prstGeom>
          <a:noFill/>
          <a:ln/>
        </p:spPr>
        <p:txBody>
          <a:bodyPr wrap="square" lIns="0" tIns="0" rIns="0" bIns="0" rtlCol="0" anchor="ctr"/>
          <a:lstStyle/>
          <a:p>
            <a:pPr indent="0" marL="0">
              <a:buNone/>
            </a:pPr>
            <a:r>
              <a:rPr lang="en-US" sz="5400" b="1" dirty="0">
                <a:solidFill>
                  <a:srgbClr val="C2410C"/>
                </a:solidFill>
                <a:latin typeface="Arial" pitchFamily="34" charset="0"/>
                <a:ea typeface="Arial" pitchFamily="34" charset="-122"/>
                <a:cs typeface="Arial" pitchFamily="34" charset="-120"/>
              </a:rPr>
              <a:t>111</a:t>
            </a:r>
            <a:endParaRPr lang="en-US" sz="5400" dirty="0"/>
          </a:p>
        </p:txBody>
      </p:sp>
      <p:sp>
        <p:nvSpPr>
          <p:cNvPr id="17" name="Text 15"/>
          <p:cNvSpPr txBox="1"/>
          <p:nvPr/>
        </p:nvSpPr>
        <p:spPr>
          <a:xfrm>
            <a:off x="4704588" y="5029200"/>
            <a:ext cx="2779776" cy="50292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tests on every push: two devices, a real Qdrant Server, a real browser</a:t>
            </a:r>
            <a:endParaRPr lang="en-US" sz="1600" dirty="0"/>
          </a:p>
        </p:txBody>
      </p:sp>
      <p:sp>
        <p:nvSpPr>
          <p:cNvPr id="18" name="Shape 16"/>
          <p:cNvSpPr/>
          <p:nvPr/>
        </p:nvSpPr>
        <p:spPr>
          <a:xfrm>
            <a:off x="8129016" y="3840480"/>
            <a:ext cx="3419856" cy="1874520"/>
          </a:xfrm>
          <a:prstGeom prst="roundRect">
            <a:avLst>
              <a:gd name="adj" fmla="val 5854"/>
            </a:avLst>
          </a:prstGeom>
          <a:solidFill>
            <a:srgbClr val="F3F4F2"/>
          </a:solidFill>
          <a:ln w="12700">
            <a:solidFill>
              <a:srgbClr val="F3F4F2"/>
            </a:solidFill>
            <a:prstDash val="solid"/>
          </a:ln>
        </p:spPr>
        <p:txBody>
          <a:bodyPr/>
          <a:p/>
        </p:txBody>
      </p:sp>
      <p:sp>
        <p:nvSpPr>
          <p:cNvPr id="19" name="Text 17"/>
          <p:cNvSpPr txBox="1"/>
          <p:nvPr/>
        </p:nvSpPr>
        <p:spPr>
          <a:xfrm>
            <a:off x="8449056" y="4023360"/>
            <a:ext cx="2779776" cy="960120"/>
          </a:xfrm>
          <a:prstGeom prst="rect">
            <a:avLst/>
          </a:prstGeom>
          <a:noFill/>
          <a:ln/>
        </p:spPr>
        <p:txBody>
          <a:bodyPr wrap="square" lIns="0" tIns="0" rIns="0" bIns="0" rtlCol="0" anchor="ctr"/>
          <a:lstStyle/>
          <a:p>
            <a:pPr indent="0" marL="0">
              <a:buNone/>
            </a:pPr>
            <a:r>
              <a:rPr lang="en-US" sz="5400" b="1" dirty="0">
                <a:solidFill>
                  <a:srgbClr val="C2410C"/>
                </a:solidFill>
                <a:latin typeface="Arial" pitchFamily="34" charset="0"/>
                <a:ea typeface="Arial" pitchFamily="34" charset="-122"/>
                <a:cs typeface="Arial" pitchFamily="34" charset="-120"/>
              </a:rPr>
              <a:t>30</a:t>
            </a:r>
            <a:endParaRPr lang="en-US" sz="5400" dirty="0"/>
          </a:p>
        </p:txBody>
      </p:sp>
      <p:sp>
        <p:nvSpPr>
          <p:cNvPr id="20" name="Text 18"/>
          <p:cNvSpPr txBox="1"/>
          <p:nvPr/>
        </p:nvSpPr>
        <p:spPr>
          <a:xfrm>
            <a:off x="8449056" y="5029200"/>
            <a:ext cx="2779776" cy="502920"/>
          </a:xfrm>
          <a:prstGeom prst="rect">
            <a:avLst/>
          </a:prstGeom>
          <a:noFill/>
          <a:ln/>
        </p:spPr>
        <p:txBody>
          <a:bodyPr wrap="square" lIns="0" tIns="0" rIns="0" bIns="0" rtlCol="0" anchor="t"/>
          <a:lstStyle/>
          <a:p>
            <a:pPr indent="0" marL="0">
              <a:buNone/>
            </a:pPr>
            <a:r>
              <a:rPr lang="en-US" sz="1600" dirty="0">
                <a:solidFill>
                  <a:srgbClr val="5F5C54"/>
                </a:solidFill>
                <a:latin typeface="Calibri" pitchFamily="34" charset="0"/>
                <a:ea typeface="Calibri" pitchFamily="34" charset="-122"/>
                <a:cs typeface="Calibri" pitchFamily="34" charset="-120"/>
              </a:rPr>
              <a:t>checks in the live end-to-end run</a:t>
            </a:r>
            <a:endParaRPr lang="en-US" sz="1600" dirty="0"/>
          </a:p>
        </p:txBody>
      </p:sp>
      <p:sp>
        <p:nvSpPr>
          <p:cNvPr id="21" name="Text 19"/>
          <p:cNvSpPr txBox="1"/>
          <p:nvPr/>
        </p:nvSpPr>
        <p:spPr>
          <a:xfrm>
            <a:off x="640080" y="5989320"/>
            <a:ext cx="9601200" cy="274320"/>
          </a:xfrm>
          <a:prstGeom prst="rect">
            <a:avLst/>
          </a:prstGeom>
          <a:noFill/>
          <a:ln/>
        </p:spPr>
        <p:txBody>
          <a:bodyPr wrap="square" lIns="0" tIns="0" rIns="0" bIns="0" rtlCol="0" anchor="t"/>
          <a:lstStyle/>
          <a:p>
            <a:pPr indent="0" marL="0">
              <a:buNone/>
            </a:pPr>
            <a:r>
              <a:rPr lang="en-US" sz="1200" dirty="0">
                <a:solidFill>
                  <a:srgbClr val="5F5C54"/>
                </a:solidFill>
                <a:latin typeface="Calibri" pitchFamily="34" charset="0"/>
                <a:ea typeface="Calibri" pitchFamily="34" charset="-122"/>
                <a:cs typeface="Calibri" pitchFamily="34" charset="-120"/>
              </a:rPr>
              <a:t>Ryzen 7 7435HS laptop, RTX 3050 4 GB. Also verified on Linux, and in production on two arm64 servers with Qdrant Cloud.</a:t>
            </a:r>
            <a:endParaRPr lang="en-US" sz="1200" dirty="0"/>
          </a:p>
        </p:txBody>
      </p:sp>
      <p:sp>
        <p:nvSpPr>
          <p:cNvPr id="22" name="Text 20"/>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5F5C54"/>
                </a:solidFill>
                <a:latin typeface="Courier New" pitchFamily="34" charset="0"/>
                <a:ea typeface="Courier New" pitchFamily="34" charset="-122"/>
                <a:cs typeface="Courier New"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714"/>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8686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Five moments in the demo</a:t>
            </a:r>
            <a:endParaRPr lang="en-US" sz="3600" dirty="0"/>
          </a:p>
        </p:txBody>
      </p:sp>
      <p:sp>
        <p:nvSpPr>
          <p:cNvPr id="3" name="Shape 1"/>
          <p:cNvSpPr/>
          <p:nvPr/>
        </p:nvSpPr>
        <p:spPr>
          <a:xfrm>
            <a:off x="640080" y="1783080"/>
            <a:ext cx="457200" cy="457200"/>
          </a:xfrm>
          <a:prstGeom prst="ellipse">
            <a:avLst/>
          </a:prstGeom>
          <a:solidFill>
            <a:srgbClr val="C2410C"/>
          </a:solidFill>
          <a:ln w="12700">
            <a:solidFill>
              <a:srgbClr val="C2410C"/>
            </a:solidFill>
            <a:prstDash val="solid"/>
          </a:ln>
        </p:spPr>
        <p:txBody>
          <a:bodyPr/>
          <a:p/>
        </p:txBody>
      </p:sp>
      <p:sp>
        <p:nvSpPr>
          <p:cNvPr id="4" name="Text 2"/>
          <p:cNvSpPr txBox="1"/>
          <p:nvPr/>
        </p:nvSpPr>
        <p:spPr>
          <a:xfrm>
            <a:off x="640080"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371600" y="1783080"/>
            <a:ext cx="6035040" cy="457200"/>
          </a:xfrm>
          <a:prstGeom prst="rect">
            <a:avLst/>
          </a:prstGeom>
          <a:noFill/>
          <a:ln/>
        </p:spPr>
        <p:txBody>
          <a:bodyPr wrap="square" lIns="0" tIns="0" rIns="0" bIns="0" rtlCol="0" anchor="ctr"/>
          <a:lstStyle/>
          <a:p>
            <a:pPr indent="0" marL="0">
              <a:buNone/>
            </a:pPr>
            <a:r>
              <a:rPr lang="en-US" sz="2200" dirty="0">
                <a:solidFill>
                  <a:srgbClr val="ECEBE4"/>
                </a:solidFill>
                <a:latin typeface="Calibri" pitchFamily="34" charset="0"/>
                <a:ea typeface="Calibri" pitchFamily="34" charset="-122"/>
                <a:cs typeface="Calibri" pitchFamily="34" charset="-120"/>
              </a:rPr>
              <a:t>Switch the network off and keep working</a:t>
            </a:r>
            <a:endParaRPr lang="en-US" sz="2200" dirty="0"/>
          </a:p>
        </p:txBody>
      </p:sp>
      <p:sp>
        <p:nvSpPr>
          <p:cNvPr id="6" name="Shape 4"/>
          <p:cNvSpPr/>
          <p:nvPr/>
        </p:nvSpPr>
        <p:spPr>
          <a:xfrm>
            <a:off x="640080" y="2560320"/>
            <a:ext cx="457200" cy="457200"/>
          </a:xfrm>
          <a:prstGeom prst="ellipse">
            <a:avLst/>
          </a:prstGeom>
          <a:solidFill>
            <a:srgbClr val="C2410C"/>
          </a:solidFill>
          <a:ln w="12700">
            <a:solidFill>
              <a:srgbClr val="C2410C"/>
            </a:solidFill>
            <a:prstDash val="solid"/>
          </a:ln>
        </p:spPr>
        <p:txBody>
          <a:bodyPr/>
          <a:p/>
        </p:txBody>
      </p:sp>
      <p:sp>
        <p:nvSpPr>
          <p:cNvPr id="7" name="Text 5"/>
          <p:cNvSpPr txBox="1"/>
          <p:nvPr/>
        </p:nvSpPr>
        <p:spPr>
          <a:xfrm>
            <a:off x="64008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8" name="Text 6"/>
          <p:cNvSpPr txBox="1"/>
          <p:nvPr/>
        </p:nvSpPr>
        <p:spPr>
          <a:xfrm>
            <a:off x="1371600" y="2560320"/>
            <a:ext cx="6035040" cy="457200"/>
          </a:xfrm>
          <a:prstGeom prst="rect">
            <a:avLst/>
          </a:prstGeom>
          <a:noFill/>
          <a:ln/>
        </p:spPr>
        <p:txBody>
          <a:bodyPr wrap="square" lIns="0" tIns="0" rIns="0" bIns="0" rtlCol="0" anchor="ctr"/>
          <a:lstStyle/>
          <a:p>
            <a:pPr indent="0" marL="0">
              <a:buNone/>
            </a:pPr>
            <a:r>
              <a:rPr lang="en-US" sz="2200" dirty="0">
                <a:solidFill>
                  <a:srgbClr val="ECEBE4"/>
                </a:solidFill>
                <a:latin typeface="Calibri" pitchFamily="34" charset="0"/>
                <a:ea typeface="Calibri" pitchFamily="34" charset="-122"/>
                <a:cs typeface="Calibri" pitchFamily="34" charset="-120"/>
              </a:rPr>
              <a:t>Ask a question, get a cited answer</a:t>
            </a:r>
            <a:endParaRPr lang="en-US" sz="2200" dirty="0"/>
          </a:p>
        </p:txBody>
      </p:sp>
      <p:sp>
        <p:nvSpPr>
          <p:cNvPr id="9" name="Shape 7"/>
          <p:cNvSpPr/>
          <p:nvPr/>
        </p:nvSpPr>
        <p:spPr>
          <a:xfrm>
            <a:off x="640080" y="3337560"/>
            <a:ext cx="457200" cy="457200"/>
          </a:xfrm>
          <a:prstGeom prst="ellipse">
            <a:avLst/>
          </a:prstGeom>
          <a:solidFill>
            <a:srgbClr val="C2410C"/>
          </a:solidFill>
          <a:ln w="12700">
            <a:solidFill>
              <a:srgbClr val="C2410C"/>
            </a:solidFill>
            <a:prstDash val="solid"/>
          </a:ln>
        </p:spPr>
        <p:txBody>
          <a:bodyPr/>
          <a:p/>
        </p:txBody>
      </p:sp>
      <p:sp>
        <p:nvSpPr>
          <p:cNvPr id="10" name="Text 8"/>
          <p:cNvSpPr txBox="1"/>
          <p:nvPr/>
        </p:nvSpPr>
        <p:spPr>
          <a:xfrm>
            <a:off x="640080" y="3337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1" name="Text 9"/>
          <p:cNvSpPr txBox="1"/>
          <p:nvPr/>
        </p:nvSpPr>
        <p:spPr>
          <a:xfrm>
            <a:off x="1371600" y="3337560"/>
            <a:ext cx="6035040" cy="457200"/>
          </a:xfrm>
          <a:prstGeom prst="rect">
            <a:avLst/>
          </a:prstGeom>
          <a:noFill/>
          <a:ln/>
        </p:spPr>
        <p:txBody>
          <a:bodyPr wrap="square" lIns="0" tIns="0" rIns="0" bIns="0" rtlCol="0" anchor="ctr"/>
          <a:lstStyle/>
          <a:p>
            <a:pPr indent="0" marL="0">
              <a:buNone/>
            </a:pPr>
            <a:r>
              <a:rPr lang="en-US" sz="2200" dirty="0">
                <a:solidFill>
                  <a:srgbClr val="ECEBE4"/>
                </a:solidFill>
                <a:latin typeface="Calibri" pitchFamily="34" charset="0"/>
                <a:ea typeface="Calibri" pitchFamily="34" charset="-122"/>
                <a:cs typeface="Calibri" pitchFamily="34" charset="-120"/>
              </a:rPr>
              <a:t>Watch names get masked before upload</a:t>
            </a:r>
            <a:endParaRPr lang="en-US" sz="2200" dirty="0"/>
          </a:p>
        </p:txBody>
      </p:sp>
      <p:sp>
        <p:nvSpPr>
          <p:cNvPr id="12" name="Shape 10"/>
          <p:cNvSpPr/>
          <p:nvPr/>
        </p:nvSpPr>
        <p:spPr>
          <a:xfrm>
            <a:off x="640080" y="4114800"/>
            <a:ext cx="457200" cy="457200"/>
          </a:xfrm>
          <a:prstGeom prst="ellipse">
            <a:avLst/>
          </a:prstGeom>
          <a:solidFill>
            <a:srgbClr val="C2410C"/>
          </a:solidFill>
          <a:ln w="12700">
            <a:solidFill>
              <a:srgbClr val="C2410C"/>
            </a:solidFill>
            <a:prstDash val="solid"/>
          </a:ln>
        </p:spPr>
        <p:txBody>
          <a:bodyPr/>
          <a:p/>
        </p:txBody>
      </p:sp>
      <p:sp>
        <p:nvSpPr>
          <p:cNvPr id="13" name="Text 11"/>
          <p:cNvSpPr txBox="1"/>
          <p:nvPr/>
        </p:nvSpPr>
        <p:spPr>
          <a:xfrm>
            <a:off x="640080" y="4114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4" name="Text 12"/>
          <p:cNvSpPr txBox="1"/>
          <p:nvPr/>
        </p:nvSpPr>
        <p:spPr>
          <a:xfrm>
            <a:off x="1371600" y="4114800"/>
            <a:ext cx="6035040" cy="457200"/>
          </a:xfrm>
          <a:prstGeom prst="rect">
            <a:avLst/>
          </a:prstGeom>
          <a:noFill/>
          <a:ln/>
        </p:spPr>
        <p:txBody>
          <a:bodyPr wrap="square" lIns="0" tIns="0" rIns="0" bIns="0" rtlCol="0" anchor="ctr"/>
          <a:lstStyle/>
          <a:p>
            <a:pPr indent="0" marL="0">
              <a:buNone/>
            </a:pPr>
            <a:r>
              <a:rPr lang="en-US" sz="2200" dirty="0">
                <a:solidFill>
                  <a:srgbClr val="ECEBE4"/>
                </a:solidFill>
                <a:latin typeface="Calibri" pitchFamily="34" charset="0"/>
                <a:ea typeface="Calibri" pitchFamily="34" charset="-122"/>
                <a:cs typeface="Calibri" pitchFamily="34" charset="-120"/>
              </a:rPr>
              <a:t>Reconnect: urgent notes go first</a:t>
            </a:r>
            <a:endParaRPr lang="en-US" sz="2200" dirty="0"/>
          </a:p>
        </p:txBody>
      </p:sp>
      <p:sp>
        <p:nvSpPr>
          <p:cNvPr id="15" name="Shape 13"/>
          <p:cNvSpPr/>
          <p:nvPr/>
        </p:nvSpPr>
        <p:spPr>
          <a:xfrm>
            <a:off x="640080" y="4892040"/>
            <a:ext cx="457200" cy="457200"/>
          </a:xfrm>
          <a:prstGeom prst="ellipse">
            <a:avLst/>
          </a:prstGeom>
          <a:solidFill>
            <a:srgbClr val="C2410C"/>
          </a:solidFill>
          <a:ln w="12700">
            <a:solidFill>
              <a:srgbClr val="C2410C"/>
            </a:solidFill>
            <a:prstDash val="solid"/>
          </a:ln>
        </p:spPr>
        <p:txBody>
          <a:bodyPr/>
          <a:p/>
        </p:txBody>
      </p:sp>
      <p:sp>
        <p:nvSpPr>
          <p:cNvPr id="16" name="Text 14"/>
          <p:cNvSpPr txBox="1"/>
          <p:nvPr/>
        </p:nvSpPr>
        <p:spPr>
          <a:xfrm>
            <a:off x="64008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17" name="Text 15"/>
          <p:cNvSpPr txBox="1"/>
          <p:nvPr/>
        </p:nvSpPr>
        <p:spPr>
          <a:xfrm>
            <a:off x="1371600" y="4892040"/>
            <a:ext cx="6035040" cy="457200"/>
          </a:xfrm>
          <a:prstGeom prst="rect">
            <a:avLst/>
          </a:prstGeom>
          <a:noFill/>
          <a:ln/>
        </p:spPr>
        <p:txBody>
          <a:bodyPr wrap="square" lIns="0" tIns="0" rIns="0" bIns="0" rtlCol="0" anchor="ctr"/>
          <a:lstStyle/>
          <a:p>
            <a:pPr indent="0" marL="0">
              <a:buNone/>
            </a:pPr>
            <a:r>
              <a:rPr lang="en-US" sz="2200" dirty="0">
                <a:solidFill>
                  <a:srgbClr val="ECEBE4"/>
                </a:solidFill>
                <a:latin typeface="Calibri" pitchFamily="34" charset="0"/>
                <a:ea typeface="Calibri" pitchFamily="34" charset="-122"/>
                <a:cs typeface="Calibri" pitchFamily="34" charset="-120"/>
              </a:rPr>
              <a:t>Two devices disagree, a person decides (one click to stage)</a:t>
            </a:r>
            <a:endParaRPr lang="en-US" sz="2200" dirty="0"/>
          </a:p>
        </p:txBody>
      </p:sp>
      <p:sp>
        <p:nvSpPr>
          <p:cNvPr id="18" name="Shape 16"/>
          <p:cNvSpPr/>
          <p:nvPr/>
        </p:nvSpPr>
        <p:spPr>
          <a:xfrm>
            <a:off x="7863840" y="1783080"/>
            <a:ext cx="3687775" cy="2971800"/>
          </a:xfrm>
          <a:prstGeom prst="roundRect">
            <a:avLst>
              <a:gd name="adj" fmla="val 3692"/>
            </a:avLst>
          </a:prstGeom>
          <a:solidFill>
            <a:srgbClr val="24251F"/>
          </a:solidFill>
          <a:ln w="12700">
            <a:solidFill>
              <a:srgbClr val="24251F"/>
            </a:solidFill>
            <a:prstDash val="solid"/>
          </a:ln>
        </p:spPr>
        <p:txBody>
          <a:bodyPr/>
          <a:p/>
        </p:txBody>
      </p:sp>
      <p:sp>
        <p:nvSpPr>
          <p:cNvPr id="19" name="Text 17"/>
          <p:cNvSpPr txBox="1"/>
          <p:nvPr/>
        </p:nvSpPr>
        <p:spPr>
          <a:xfrm>
            <a:off x="8229600" y="2057400"/>
            <a:ext cx="2956255" cy="365760"/>
          </a:xfrm>
          <a:prstGeom prst="rect">
            <a:avLst/>
          </a:prstGeom>
          <a:noFill/>
          <a:ln/>
        </p:spPr>
        <p:txBody>
          <a:bodyPr wrap="square" lIns="0" tIns="0" rIns="0" bIns="0" rtlCol="0" anchor="ctr"/>
          <a:lstStyle/>
          <a:p>
            <a:pPr indent="0" marL="0">
              <a:buNone/>
            </a:pPr>
            <a:r>
              <a:rPr lang="en-US" sz="1800" b="1" dirty="0">
                <a:solidFill>
                  <a:srgbClr val="F29A4A"/>
                </a:solidFill>
                <a:latin typeface="Arial" pitchFamily="34" charset="0"/>
                <a:ea typeface="Arial" pitchFamily="34" charset="-122"/>
                <a:cs typeface="Arial" pitchFamily="34" charset="-120"/>
              </a:rPr>
              <a:t>Also in the box</a:t>
            </a:r>
            <a:endParaRPr lang="en-US" sz="1800" dirty="0"/>
          </a:p>
        </p:txBody>
      </p:sp>
      <p:sp>
        <p:nvSpPr>
          <p:cNvPr id="20" name="Text 18"/>
          <p:cNvSpPr txBox="1"/>
          <p:nvPr/>
        </p:nvSpPr>
        <p:spPr>
          <a:xfrm>
            <a:off x="8229600" y="2651760"/>
            <a:ext cx="2956255" cy="18288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BDBBB0"/>
                </a:solidFill>
                <a:latin typeface="Calibri" pitchFamily="34" charset="0"/>
                <a:ea typeface="Calibri" pitchFamily="34" charset="-122"/>
                <a:cs typeface="Calibri" pitchFamily="34" charset="-120"/>
              </a:rPr>
              <a:t>Hands-free dictation in any language, on the device</a:t>
            </a:r>
            <a:endParaRPr lang="en-US" sz="1700" dirty="0"/>
          </a:p>
        </p:txBody>
      </p:sp>
      <p:sp>
        <p:nvSpPr>
          <p:cNvPr id="21" name="Text 19"/>
          <p:cNvSpPr txBox="1"/>
          <p:nvPr/>
        </p:nvSpPr>
        <p:spPr>
          <a:xfrm>
            <a:off x="640080" y="6263640"/>
            <a:ext cx="8229600" cy="274320"/>
          </a:xfrm>
          <a:prstGeom prst="rect">
            <a:avLst/>
          </a:prstGeom>
          <a:noFill/>
          <a:ln/>
        </p:spPr>
        <p:txBody>
          <a:bodyPr wrap="square" lIns="0" tIns="0" rIns="0" bIns="0" rtlCol="0" anchor="ctr"/>
          <a:lstStyle/>
          <a:p>
            <a:pPr indent="0" marL="0">
              <a:buNone/>
            </a:pPr>
            <a:r>
              <a:rPr lang="en-US" sz="1200" dirty="0">
                <a:solidFill>
                  <a:srgbClr val="9C998D"/>
                </a:solidFill>
                <a:latin typeface="Courier New" pitchFamily="34" charset="0"/>
                <a:ea typeface="Courier New" pitchFamily="34" charset="-122"/>
                <a:cs typeface="Courier New" pitchFamily="34" charset="-120"/>
              </a:rPr>
              <a:t>Team Compilers  ·  github.com/yabhinav1/fieldmind</a:t>
            </a:r>
            <a:endParaRPr lang="en-US" sz="1200" dirty="0"/>
          </a:p>
        </p:txBody>
      </p:sp>
      <p:sp>
        <p:nvSpPr>
          <p:cNvPr id="22" name="Text 20"/>
          <p:cNvSpPr txBox="1"/>
          <p:nvPr/>
        </p:nvSpPr>
        <p:spPr>
          <a:xfrm>
            <a:off x="10637215" y="6309360"/>
            <a:ext cx="914400" cy="274320"/>
          </a:xfrm>
          <a:prstGeom prst="rect">
            <a:avLst/>
          </a:prstGeom>
          <a:noFill/>
          <a:ln/>
        </p:spPr>
        <p:txBody>
          <a:bodyPr wrap="square" lIns="0" tIns="0" rIns="0" bIns="0" rtlCol="0" anchor="t"/>
          <a:lstStyle/>
          <a:p>
            <a:pPr algn="r" indent="0" marL="0">
              <a:buNone/>
            </a:pPr>
            <a:r>
              <a:rPr lang="en-US" sz="1100" dirty="0">
                <a:solidFill>
                  <a:srgbClr val="9C998D"/>
                </a:solidFill>
                <a:latin typeface="Courier New" pitchFamily="34" charset="0"/>
                <a:ea typeface="Courier New" pitchFamily="34" charset="-122"/>
                <a:cs typeface="Courier New" pitchFamily="34" charset="-120"/>
              </a:rPr>
              <a:t>09</a:t>
            </a:r>
            <a:endParaRPr lang="en-US" sz="11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714"/>
        </a:solidFill>
        <a:effectLst/>
      </p:bgPr>
    </p:bg>
    <p:spTree>
      <p:nvGrpSpPr>
        <p:cNvPr id="1" name=""/>
        <p:cNvGrpSpPr/>
        <p:nvPr/>
      </p:nvGrpSpPr>
      <p:grpSpPr/>
      <p:sp>
        <p:nvSpPr>
          <p:cNvPr id="2" name="TextBox 1"/>
          <p:cNvSpPr txBox="1"/>
          <p:nvPr/>
        </p:nvSpPr>
        <p:spPr>
          <a:xfrm>
            <a:off x="640080" y="548640"/>
            <a:ext cx="10881360" cy="822960"/>
          </a:xfrm>
          <a:prstGeom prst="rect">
            <a:avLst/>
          </a:prstGeom>
          <a:noFill/>
        </p:spPr>
        <p:txBody>
          <a:bodyPr wrap="square">
            <a:spAutoFit/>
          </a:bodyPr>
          <a:lstStyle/>
          <a:p>
            <a:r>
              <a:rPr sz="3600" b="1">
                <a:solidFill>
                  <a:srgbClr val="FFFFFF"/>
                </a:solidFill>
                <a:latin typeface="Arial"/>
              </a:rPr>
              <a:t>Try it live</a:t>
            </a:r>
          </a:p>
        </p:txBody>
      </p:sp>
      <p:sp>
        <p:nvSpPr>
          <p:cNvPr id="3" name="Rounded Rectangle 2"/>
          <p:cNvSpPr/>
          <p:nvPr/>
        </p:nvSpPr>
        <p:spPr>
          <a:xfrm>
            <a:off x="640080" y="1737360"/>
            <a:ext cx="5303520" cy="2743200"/>
          </a:xfrm>
          <a:prstGeom prst="roundRect">
            <a:avLst>
              <a:gd name="adj" fmla="val 8000"/>
            </a:avLst>
          </a:prstGeom>
          <a:solidFill>
            <a:srgbClr val="1E201C"/>
          </a:solidFill>
          <a:ln w="12700">
            <a:solidFill>
              <a:srgbClr val="2E3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qr-edge-a.png"/>
          <p:cNvPicPr>
            <a:picLocks noChangeAspect="1"/>
          </p:cNvPicPr>
          <p:nvPr/>
        </p:nvPicPr>
        <p:blipFill>
          <a:blip r:embed="rId2"/>
          <a:stretch>
            <a:fillRect/>
          </a:stretch>
        </p:blipFill>
        <p:spPr>
          <a:xfrm>
            <a:off x="868680" y="1965960"/>
            <a:ext cx="2286000" cy="2286000"/>
          </a:xfrm>
          <a:prstGeom prst="rect">
            <a:avLst/>
          </a:prstGeom>
        </p:spPr>
      </p:pic>
      <p:sp>
        <p:nvSpPr>
          <p:cNvPr id="5" name="TextBox 4"/>
          <p:cNvSpPr txBox="1"/>
          <p:nvPr/>
        </p:nvSpPr>
        <p:spPr>
          <a:xfrm>
            <a:off x="3291840" y="1920240"/>
            <a:ext cx="2560320" cy="365760"/>
          </a:xfrm>
          <a:prstGeom prst="rect">
            <a:avLst/>
          </a:prstGeom>
          <a:noFill/>
        </p:spPr>
        <p:txBody>
          <a:bodyPr wrap="square">
            <a:spAutoFit/>
          </a:bodyPr>
          <a:lstStyle/>
          <a:p>
            <a:r>
              <a:rPr sz="1200" b="1">
                <a:solidFill>
                  <a:srgbClr val="F29A4A"/>
                </a:solidFill>
                <a:latin typeface="Courier New"/>
              </a:rPr>
              <a:t>LIVE DEVICE</a:t>
            </a:r>
          </a:p>
        </p:txBody>
      </p:sp>
      <p:sp>
        <p:nvSpPr>
          <p:cNvPr id="6" name="TextBox 5"/>
          <p:cNvSpPr txBox="1"/>
          <p:nvPr/>
        </p:nvSpPr>
        <p:spPr>
          <a:xfrm>
            <a:off x="3291840" y="2286000"/>
            <a:ext cx="2560320" cy="731520"/>
          </a:xfrm>
          <a:prstGeom prst="rect">
            <a:avLst/>
          </a:prstGeom>
          <a:noFill/>
        </p:spPr>
        <p:txBody>
          <a:bodyPr wrap="square">
            <a:spAutoFit/>
          </a:bodyPr>
          <a:lstStyle/>
          <a:p>
            <a:r>
              <a:rPr sz="1600" b="1">
                <a:solidFill>
                  <a:srgbClr val="FFFFFF"/>
                </a:solidFill>
                <a:latin typeface="Arial"/>
              </a:rPr>
              <a:t>fieldmindedgea.hidenplay.net</a:t>
            </a:r>
          </a:p>
        </p:txBody>
      </p:sp>
      <p:sp>
        <p:nvSpPr>
          <p:cNvPr id="7" name="TextBox 6"/>
          <p:cNvSpPr txBox="1"/>
          <p:nvPr/>
        </p:nvSpPr>
        <p:spPr>
          <a:xfrm>
            <a:off x="3291840" y="2926080"/>
            <a:ext cx="2560320" cy="1463040"/>
          </a:xfrm>
          <a:prstGeom prst="rect">
            <a:avLst/>
          </a:prstGeom>
          <a:noFill/>
        </p:spPr>
        <p:txBody>
          <a:bodyPr wrap="square">
            <a:spAutoFit/>
          </a:bodyPr>
          <a:lstStyle/>
          <a:p>
            <a:r>
              <a:rPr sz="1300" b="0">
                <a:solidFill>
                  <a:srgbClr val="BDBBB0"/>
                </a:solidFill>
                <a:latin typeface="Calibri"/>
              </a:rPr>
              <a:t>edge-a, running 24/7 on an arm64 server with Qdrant Cloud. Ask us for the PIN, then click Demo guide. A second device, edge-b, syncs with it.</a:t>
            </a:r>
          </a:p>
        </p:txBody>
      </p:sp>
      <p:sp>
        <p:nvSpPr>
          <p:cNvPr id="8" name="Rounded Rectangle 7"/>
          <p:cNvSpPr/>
          <p:nvPr/>
        </p:nvSpPr>
        <p:spPr>
          <a:xfrm>
            <a:off x="6217920" y="1737360"/>
            <a:ext cx="5303520" cy="2743200"/>
          </a:xfrm>
          <a:prstGeom prst="roundRect">
            <a:avLst>
              <a:gd name="adj" fmla="val 8000"/>
            </a:avLst>
          </a:prstGeom>
          <a:solidFill>
            <a:srgbClr val="1E201C"/>
          </a:solidFill>
          <a:ln w="12700">
            <a:solidFill>
              <a:srgbClr val="2E3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repo.png"/>
          <p:cNvPicPr>
            <a:picLocks noChangeAspect="1"/>
          </p:cNvPicPr>
          <p:nvPr/>
        </p:nvPicPr>
        <p:blipFill>
          <a:blip r:embed="rId3"/>
          <a:stretch>
            <a:fillRect/>
          </a:stretch>
        </p:blipFill>
        <p:spPr>
          <a:xfrm>
            <a:off x="6446520" y="1965960"/>
            <a:ext cx="2286000" cy="2286000"/>
          </a:xfrm>
          <a:prstGeom prst="rect">
            <a:avLst/>
          </a:prstGeom>
        </p:spPr>
      </p:pic>
      <p:sp>
        <p:nvSpPr>
          <p:cNvPr id="10" name="TextBox 9"/>
          <p:cNvSpPr txBox="1"/>
          <p:nvPr/>
        </p:nvSpPr>
        <p:spPr>
          <a:xfrm>
            <a:off x="8869680" y="1920240"/>
            <a:ext cx="2560320" cy="365760"/>
          </a:xfrm>
          <a:prstGeom prst="rect">
            <a:avLst/>
          </a:prstGeom>
          <a:noFill/>
        </p:spPr>
        <p:txBody>
          <a:bodyPr wrap="square">
            <a:spAutoFit/>
          </a:bodyPr>
          <a:lstStyle/>
          <a:p>
            <a:r>
              <a:rPr sz="1200" b="1">
                <a:solidFill>
                  <a:srgbClr val="F29A4A"/>
                </a:solidFill>
                <a:latin typeface="Courier New"/>
              </a:rPr>
              <a:t>CODE AND TESTS</a:t>
            </a:r>
          </a:p>
        </p:txBody>
      </p:sp>
      <p:sp>
        <p:nvSpPr>
          <p:cNvPr id="11" name="TextBox 10"/>
          <p:cNvSpPr txBox="1"/>
          <p:nvPr/>
        </p:nvSpPr>
        <p:spPr>
          <a:xfrm>
            <a:off x="8869680" y="2286000"/>
            <a:ext cx="2560320" cy="731520"/>
          </a:xfrm>
          <a:prstGeom prst="rect">
            <a:avLst/>
          </a:prstGeom>
          <a:noFill/>
        </p:spPr>
        <p:txBody>
          <a:bodyPr wrap="square">
            <a:spAutoFit/>
          </a:bodyPr>
          <a:lstStyle/>
          <a:p>
            <a:r>
              <a:rPr sz="1600" b="1">
                <a:solidFill>
                  <a:srgbClr val="FFFFFF"/>
                </a:solidFill>
                <a:latin typeface="Arial"/>
              </a:rPr>
              <a:t>github.com/yabhinav1/fieldmind</a:t>
            </a:r>
          </a:p>
        </p:txBody>
      </p:sp>
      <p:sp>
        <p:nvSpPr>
          <p:cNvPr id="12" name="TextBox 11"/>
          <p:cNvSpPr txBox="1"/>
          <p:nvPr/>
        </p:nvSpPr>
        <p:spPr>
          <a:xfrm>
            <a:off x="8869680" y="2926080"/>
            <a:ext cx="2560320" cy="1463040"/>
          </a:xfrm>
          <a:prstGeom prst="rect">
            <a:avLst/>
          </a:prstGeom>
          <a:noFill/>
        </p:spPr>
        <p:txBody>
          <a:bodyPr wrap="square">
            <a:spAutoFit/>
          </a:bodyPr>
          <a:lstStyle/>
          <a:p>
            <a:r>
              <a:rPr sz="1300" b="0">
                <a:solidFill>
                  <a:srgbClr val="BDBBB0"/>
                </a:solidFill>
                <a:latin typeface="Calibri"/>
              </a:rPr>
              <a:t>MIT. 111 tests on every push against a real Qdrant Server and a real browser. docker compose --profile demo up runs it on any laptop.</a:t>
            </a:r>
          </a:p>
        </p:txBody>
      </p:sp>
      <p:sp>
        <p:nvSpPr>
          <p:cNvPr id="13" name="Rounded Rectangle 12"/>
          <p:cNvSpPr/>
          <p:nvPr/>
        </p:nvSpPr>
        <p:spPr>
          <a:xfrm>
            <a:off x="640080" y="4754880"/>
            <a:ext cx="10881360" cy="1188720"/>
          </a:xfrm>
          <a:prstGeom prst="roundRect">
            <a:avLst>
              <a:gd name="adj" fmla="val 8000"/>
            </a:avLst>
          </a:prstGeom>
          <a:solidFill>
            <a:srgbClr val="1E201C"/>
          </a:solidFill>
          <a:ln w="12700">
            <a:solidFill>
              <a:srgbClr val="2E3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46320"/>
            <a:ext cx="10332720" cy="365760"/>
          </a:xfrm>
          <a:prstGeom prst="rect">
            <a:avLst/>
          </a:prstGeom>
          <a:noFill/>
        </p:spPr>
        <p:txBody>
          <a:bodyPr wrap="square">
            <a:spAutoFit/>
          </a:bodyPr>
          <a:lstStyle/>
          <a:p>
            <a:r>
              <a:rPr sz="1200" b="1">
                <a:solidFill>
                  <a:srgbClr val="F29A4A"/>
                </a:solidFill>
                <a:latin typeface="Courier New"/>
              </a:rPr>
              <a:t>FIVE THINGS TO TRY IN TWO MINUTES</a:t>
            </a:r>
          </a:p>
        </p:txBody>
      </p:sp>
      <p:sp>
        <p:nvSpPr>
          <p:cNvPr id="15" name="TextBox 14"/>
          <p:cNvSpPr txBox="1"/>
          <p:nvPr/>
        </p:nvSpPr>
        <p:spPr>
          <a:xfrm>
            <a:off x="914400" y="5212080"/>
            <a:ext cx="10332720" cy="731520"/>
          </a:xfrm>
          <a:prstGeom prst="rect">
            <a:avLst/>
          </a:prstGeom>
          <a:noFill/>
        </p:spPr>
        <p:txBody>
          <a:bodyPr wrap="square">
            <a:spAutoFit/>
          </a:bodyPr>
          <a:lstStyle/>
          <a:p>
            <a:r>
              <a:rPr sz="1400" b="0">
                <a:solidFill>
                  <a:srgbClr val="ECEBE4"/>
                </a:solidFill>
                <a:latin typeface="Calibri"/>
              </a:rPr>
              <a:t>Network switch off, keep working  ·  Dictate: just talk, in any language  ·  Ask “is a vibration of 7.2 mm/s acceptable”  ·  Type a note with a name and a phone number, watch the preview mask them  ·  Demo guide → Stage a conflict, then decide</a:t>
            </a:r>
          </a:p>
        </p:txBody>
      </p:sp>
      <p:sp>
        <p:nvSpPr>
          <p:cNvPr id="16" name="TextBox 15"/>
          <p:cNvSpPr txBox="1"/>
          <p:nvPr/>
        </p:nvSpPr>
        <p:spPr>
          <a:xfrm>
            <a:off x="640080" y="6217920"/>
            <a:ext cx="8229600" cy="274320"/>
          </a:xfrm>
          <a:prstGeom prst="rect">
            <a:avLst/>
          </a:prstGeom>
          <a:noFill/>
        </p:spPr>
        <p:txBody>
          <a:bodyPr wrap="square">
            <a:spAutoFit/>
          </a:bodyPr>
          <a:lstStyle/>
          <a:p>
            <a:r>
              <a:rPr sz="1200" b="0">
                <a:solidFill>
                  <a:srgbClr val="9C998D"/>
                </a:solidFill>
                <a:latin typeface="Courier New"/>
              </a:rPr>
              <a:t>Team Compilers  ·  Problem statement 03  ·  Qdrant Edge</a:t>
            </a:r>
          </a:p>
        </p:txBody>
      </p:sp>
      <p:sp>
        <p:nvSpPr>
          <p:cNvPr id="17" name="TextBox 16"/>
          <p:cNvSpPr txBox="1"/>
          <p:nvPr/>
        </p:nvSpPr>
        <p:spPr>
          <a:xfrm>
            <a:off x="10607040" y="6309360"/>
            <a:ext cx="914400" cy="274320"/>
          </a:xfrm>
          <a:prstGeom prst="rect">
            <a:avLst/>
          </a:prstGeom>
          <a:noFill/>
        </p:spPr>
        <p:txBody>
          <a:bodyPr wrap="square">
            <a:spAutoFit/>
          </a:bodyPr>
          <a:lstStyle/>
          <a:p>
            <a:r>
              <a:rPr sz="1100" b="0">
                <a:solidFill>
                  <a:srgbClr val="9C998D"/>
                </a:solidFill>
                <a:latin typeface="Courier New"/>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Team Compilers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FieldMind</dc:title>
  <dc:subject>PptxGenJS Presentation</dc:subject>
  <dc:creator>Team Compilers</dc:creator>
  <cp:lastModifiedBy>Team Compilers</cp:lastModifiedBy>
  <cp:revision>1</cp:revision>
  <dcterms:created xsi:type="dcterms:W3CDTF">2026-09-30T14:34:58Z</dcterms:created>
  <dcterms:modified xsi:type="dcterms:W3CDTF">2026-09-30T14:34:58Z</dcterms:modified>
</cp:coreProperties>
</file>