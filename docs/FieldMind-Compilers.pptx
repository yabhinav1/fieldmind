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FieldMind is an offline-first memory for people who work where the network is unreliable. It runs on Qdrant Edge, syncs with Qdrant Server, and decides on the device what may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make this hard. The network is not there when the knowledge is created. A single note mixes what should be shared with what should not. And devices that work offline disagree when they reconnect. A local vector database alone solves none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dashboard with the network switched off. On the left, a note is being typed and the device shows that two details will be masked in the cloud copy. On the right, a question is answered from a headquarters manual that was downloaded earlier, with zero network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Qdrant Edge runs inside the app, so there is no database server on the device. We keep two shards. The local shard holds what this device wrote, including everything private. The replica shard is a disposable copy of cloud knowledge that can be rebuilt at any time without touching a private note. Uploads are compare-and-swap writes. Downloads use a small diff, or a full shard snapshot when the device is far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"dynamically decide what stays local". Every note gets one of three outcomes: private, shared, or shared with personal details masked. The third one matters most: the fleet still learns about the fault, and the original with the names stays on the device. We also embed the masked text, not the original, so the vector cannot leak what the text hides.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two technicians changed the same note about valve V-17 while both were offline. One said monitor until the weekend, the other said isolate it today. The second device to reconnect does not overwrite the first. It shows both versions and the text they started from, and a person chooses. Follow-up notes are handled separately: a note saying the bearing was replaced automatically supersedes the earlier fault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 Qdrant on both sides, not just as a local store. On the device: two Edge shards, built-in BM25 and dense search. Between device and server: conditional upserts give us compare-and-swap without any server code of our own, and shard snapshots let a new or long-offline device catch up in one download, which we then trim to its own site and compact to one segment.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here was measured on the development laptop. Search takes about a millisecond across both shards. Deciding what may be shared takes about 20 milliseconds including name recognition. A generated answer takes one to three seconds once the model is loaded. The test suite runs two devices against a shared cloud, and a scripted end-to-end run checks 30 steps against a real Qdrant Server. A third device on Linux was tested by disconnecting its network for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things to watch in the live demo. We are also clear about what is not done: notes are not encrypted on disk, the dashboard session runs over plain HTTP, and the name model is English only. Those are the next three pieces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714"/>
        </a:solidFill>
      </p:bgPr>
    </p:bg>
    <p:spTree>
      <p:nvGrpSpPr>
        <p:cNvPr id="1" name=""/>
        <p:cNvGrpSpPr/>
        <p:nvPr/>
      </p:nvGrpSpPr>
      <p:grpSpPr>
        <a:xfrm>
          <a:off x="0" y="0"/>
          <a:ext cx="0" cy="0"/>
          <a:chOff x="0" y="0"/>
          <a:chExt cx="0" cy="0"/>
        </a:xfrm>
      </p:grpSpPr>
      <p:sp>
        <p:nvSpPr>
          <p:cNvPr id="2" name="Shape 0"/>
          <p:cNvSpPr/>
          <p:nvPr/>
        </p:nvSpPr>
        <p:spPr>
          <a:xfrm rot="5400000">
            <a:off x="8229600" y="1600200"/>
            <a:ext cx="3108960" cy="3108960"/>
          </a:xfrm>
          <a:prstGeom prst="hexagon">
            <a:avLst/>
          </a:prstGeom>
          <a:solidFill>
            <a:srgbClr val="161714"/>
          </a:solidFill>
          <a:ln w="63500">
            <a:solidFill>
              <a:srgbClr val="F29A4A"/>
            </a:solidFill>
            <a:prstDash val="solid"/>
          </a:ln>
        </p:spPr>
      </p:sp>
      <p:sp>
        <p:nvSpPr>
          <p:cNvPr id="3" name="Shape 1"/>
          <p:cNvSpPr/>
          <p:nvPr/>
        </p:nvSpPr>
        <p:spPr>
          <a:xfrm>
            <a:off x="9326880" y="2697480"/>
            <a:ext cx="914400" cy="914400"/>
          </a:xfrm>
          <a:prstGeom prst="ellipse">
            <a:avLst/>
          </a:prstGeom>
          <a:solidFill>
            <a:srgbClr val="F29A4A"/>
          </a:solidFill>
          <a:ln w="12700">
            <a:solidFill>
              <a:srgbClr val="F29A4A"/>
            </a:solidFill>
            <a:prstDash val="solid"/>
          </a:ln>
        </p:spPr>
      </p:sp>
      <p:sp>
        <p:nvSpPr>
          <p:cNvPr id="4" name="Text 2"/>
          <p:cNvSpPr txBox="1"/>
          <p:nvPr/>
        </p:nvSpPr>
        <p:spPr>
          <a:xfrm>
            <a:off x="640080" y="685800"/>
            <a:ext cx="7315200" cy="320040"/>
          </a:xfrm>
          <a:prstGeom prst="rect">
            <a:avLst/>
          </a:prstGeom>
          <a:noFill/>
          <a:ln/>
        </p:spPr>
        <p:txBody>
          <a:bodyPr wrap="square" lIns="0" tIns="0" rIns="0" bIns="0" rtlCol="0" anchor="t"/>
          <a:lstStyle/>
          <a:p>
            <a:pPr indent="0" marL="0">
              <a:buNone/>
            </a:pPr>
            <a:r>
              <a:rPr lang="en-US" sz="1300" spc="300" kern="0" dirty="0">
                <a:solidFill>
                  <a:srgbClr val="F29A4A"/>
                </a:solidFill>
                <a:latin typeface="Courier New" pitchFamily="34" charset="0"/>
                <a:ea typeface="Courier New" pitchFamily="34" charset="-122"/>
                <a:cs typeface="Courier New" pitchFamily="34" charset="-120"/>
              </a:rPr>
              <a:t>PROBLEM STATEMENT 03  ·  QDRANT EDGE</a:t>
            </a:r>
            <a:endParaRPr lang="en-US" sz="1300" dirty="0"/>
          </a:p>
        </p:txBody>
      </p:sp>
      <p:sp>
        <p:nvSpPr>
          <p:cNvPr id="5" name="Text 3"/>
          <p:cNvSpPr txBox="1"/>
          <p:nvPr/>
        </p:nvSpPr>
        <p:spPr>
          <a:xfrm>
            <a:off x="640080" y="1828800"/>
            <a:ext cx="7315200" cy="1371600"/>
          </a:xfrm>
          <a:prstGeom prst="rect">
            <a:avLst/>
          </a:prstGeom>
          <a:noFill/>
          <a:ln/>
        </p:spPr>
        <p:txBody>
          <a:bodyPr wrap="square" lIns="0" tIns="0" rIns="0" bIns="0" rtlCol="0" anchor="ctr"/>
          <a:lstStyle/>
          <a:p>
            <a:pPr indent="0" marL="0">
              <a:buNone/>
            </a:pPr>
            <a:r>
              <a:rPr lang="en-US" sz="8000" b="1" dirty="0">
                <a:solidFill>
                  <a:srgbClr val="FFFFFF"/>
                </a:solidFill>
                <a:latin typeface="Arial" pitchFamily="34" charset="0"/>
                <a:ea typeface="Arial" pitchFamily="34" charset="-122"/>
                <a:cs typeface="Arial" pitchFamily="34" charset="-120"/>
              </a:rPr>
              <a:t>FieldMind</a:t>
            </a:r>
            <a:endParaRPr lang="en-US" sz="8000" dirty="0"/>
          </a:p>
        </p:txBody>
      </p:sp>
      <p:sp>
        <p:nvSpPr>
          <p:cNvPr id="6" name="Text 4"/>
          <p:cNvSpPr txBox="1"/>
          <p:nvPr/>
        </p:nvSpPr>
        <p:spPr>
          <a:xfrm>
            <a:off x="640080" y="3429000"/>
            <a:ext cx="6949440" cy="1188720"/>
          </a:xfrm>
          <a:prstGeom prst="rect">
            <a:avLst/>
          </a:prstGeom>
          <a:noFill/>
          <a:ln/>
        </p:spPr>
        <p:txBody>
          <a:bodyPr wrap="square" lIns="0" tIns="0" rIns="0" bIns="0" rtlCol="0" anchor="t"/>
          <a:lstStyle/>
          <a:p>
            <a:pPr indent="0" marL="0">
              <a:buNone/>
            </a:pPr>
            <a:r>
              <a:rPr lang="en-US" sz="2400" dirty="0">
                <a:solidFill>
                  <a:srgbClr val="BDBBB0"/>
                </a:solidFill>
                <a:latin typeface="Calibri" pitchFamily="34" charset="0"/>
                <a:ea typeface="Calibri" pitchFamily="34" charset="-122"/>
                <a:cs typeface="Calibri" pitchFamily="34" charset="-120"/>
              </a:rPr>
              <a:t>Memory for field technicians that works with no network, and knows what it is allowed to share.</a:t>
            </a:r>
            <a:endParaRPr lang="en-US" sz="2400" dirty="0"/>
          </a:p>
        </p:txBody>
      </p:sp>
      <p:sp>
        <p:nvSpPr>
          <p:cNvPr id="7" name="Text 5"/>
          <p:cNvSpPr txBox="1"/>
          <p:nvPr/>
        </p:nvSpPr>
        <p:spPr>
          <a:xfrm>
            <a:off x="640080" y="5760720"/>
            <a:ext cx="45720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Team Compilers</a:t>
            </a:r>
            <a:endParaRPr lang="en-US" sz="2000" dirty="0"/>
          </a:p>
        </p:txBody>
      </p:sp>
      <p:sp>
        <p:nvSpPr>
          <p:cNvPr id="8" name="Text 6"/>
          <p:cNvSpPr txBox="1"/>
          <p:nvPr/>
        </p:nvSpPr>
        <p:spPr>
          <a:xfrm>
            <a:off x="6522415" y="5815584"/>
            <a:ext cx="5029200" cy="320040"/>
          </a:xfrm>
          <a:prstGeom prst="rect">
            <a:avLst/>
          </a:prstGeom>
          <a:noFill/>
          <a:ln/>
        </p:spPr>
        <p:txBody>
          <a:bodyPr wrap="square" lIns="0" tIns="0" rIns="0" bIns="0" rtlCol="0" anchor="ctr"/>
          <a:lstStyle/>
          <a:p>
            <a:pPr algn="r" indent="0" marL="0">
              <a:buNone/>
            </a:pPr>
            <a:r>
              <a:rPr lang="en-US" sz="1300" dirty="0">
                <a:solidFill>
                  <a:srgbClr val="9C998D"/>
                </a:solidFill>
                <a:latin typeface="Courier New" pitchFamily="34" charset="0"/>
                <a:ea typeface="Courier New" pitchFamily="34" charset="-122"/>
                <a:cs typeface="Courier New" pitchFamily="34" charset="-120"/>
              </a:rPr>
              <a:t>github.com/yabhinav1/fieldmind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13258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The most useful field knowledge is created where the network is worst</a:t>
            </a:r>
            <a:endParaRPr lang="en-US" sz="3600" dirty="0"/>
          </a:p>
        </p:txBody>
      </p:sp>
      <p:sp>
        <p:nvSpPr>
          <p:cNvPr id="3" name="Shape 1"/>
          <p:cNvSpPr/>
          <p:nvPr/>
        </p:nvSpPr>
        <p:spPr>
          <a:xfrm>
            <a:off x="640080" y="2423160"/>
            <a:ext cx="3419856" cy="3200400"/>
          </a:xfrm>
          <a:prstGeom prst="roundRect">
            <a:avLst>
              <a:gd name="adj" fmla="val 3429"/>
            </a:avLst>
          </a:prstGeom>
          <a:solidFill>
            <a:srgbClr val="F3F4F2"/>
          </a:solidFill>
          <a:ln w="12700">
            <a:solidFill>
              <a:srgbClr val="F3F4F2"/>
            </a:solidFill>
            <a:prstDash val="solid"/>
          </a:ln>
        </p:spPr>
      </p:sp>
      <p:sp>
        <p:nvSpPr>
          <p:cNvPr id="4" name="Shape 2"/>
          <p:cNvSpPr/>
          <p:nvPr/>
        </p:nvSpPr>
        <p:spPr>
          <a:xfrm>
            <a:off x="1005840" y="2788920"/>
            <a:ext cx="548640" cy="548640"/>
          </a:xfrm>
          <a:prstGeom prst="ellipse">
            <a:avLst/>
          </a:prstGeom>
          <a:solidFill>
            <a:srgbClr val="C2410C"/>
          </a:solidFill>
          <a:ln w="12700">
            <a:solidFill>
              <a:srgbClr val="C2410C"/>
            </a:solidFill>
            <a:prstDash val="solid"/>
          </a:ln>
        </p:spPr>
      </p:sp>
      <p:sp>
        <p:nvSpPr>
          <p:cNvPr id="5" name="Text 3"/>
          <p:cNvSpPr txBox="1"/>
          <p:nvPr/>
        </p:nvSpPr>
        <p:spPr>
          <a:xfrm>
            <a:off x="1005840"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1005840" y="3611880"/>
            <a:ext cx="2688336" cy="411480"/>
          </a:xfrm>
          <a:prstGeom prst="rect">
            <a:avLst/>
          </a:prstGeom>
          <a:noFill/>
          <a:ln/>
        </p:spPr>
        <p:txBody>
          <a:bodyPr wrap="square" lIns="0" tIns="0" rIns="0" bIns="0" rtlCol="0" anchor="ctr"/>
          <a:lstStyle/>
          <a:p>
            <a:pPr indent="0" marL="0">
              <a:buNone/>
            </a:pPr>
            <a:r>
              <a:rPr lang="en-US" sz="2200" b="1" dirty="0">
                <a:solidFill>
                  <a:srgbClr val="1C1B18"/>
                </a:solidFill>
                <a:latin typeface="Arial" pitchFamily="34" charset="0"/>
                <a:ea typeface="Arial" pitchFamily="34" charset="-122"/>
                <a:cs typeface="Arial" pitchFamily="34" charset="-120"/>
              </a:rPr>
              <a:t>No signal</a:t>
            </a:r>
            <a:endParaRPr lang="en-US" sz="2200" dirty="0"/>
          </a:p>
        </p:txBody>
      </p:sp>
      <p:sp>
        <p:nvSpPr>
          <p:cNvPr id="7" name="Text 5"/>
          <p:cNvSpPr txBox="1"/>
          <p:nvPr/>
        </p:nvSpPr>
        <p:spPr>
          <a:xfrm>
            <a:off x="1005840" y="4160520"/>
            <a:ext cx="2688336" cy="1188720"/>
          </a:xfrm>
          <a:prstGeom prst="rect">
            <a:avLst/>
          </a:prstGeom>
          <a:noFill/>
          <a:ln/>
        </p:spPr>
        <p:txBody>
          <a:bodyPr wrap="square" lIns="0" tIns="0" rIns="0" bIns="0" rtlCol="0" anchor="t"/>
          <a:lstStyle/>
          <a:p>
            <a:pPr indent="0" marL="0">
              <a:buNone/>
            </a:pPr>
            <a:r>
              <a:rPr lang="en-US" sz="1700" dirty="0">
                <a:solidFill>
                  <a:srgbClr val="5F5C54"/>
                </a:solidFill>
                <a:latin typeface="Calibri" pitchFamily="34" charset="0"/>
                <a:ea typeface="Calibri" pitchFamily="34" charset="-122"/>
                <a:cs typeface="Calibri" pitchFamily="34" charset="-120"/>
              </a:rPr>
              <a:t>Plant floors, basements and remote sites drop the connection for hours.</a:t>
            </a:r>
            <a:endParaRPr lang="en-US" sz="1700" dirty="0"/>
          </a:p>
        </p:txBody>
      </p:sp>
      <p:sp>
        <p:nvSpPr>
          <p:cNvPr id="8" name="Shape 6"/>
          <p:cNvSpPr/>
          <p:nvPr/>
        </p:nvSpPr>
        <p:spPr>
          <a:xfrm>
            <a:off x="4384548" y="2423160"/>
            <a:ext cx="3419856" cy="3200400"/>
          </a:xfrm>
          <a:prstGeom prst="roundRect">
            <a:avLst>
              <a:gd name="adj" fmla="val 3429"/>
            </a:avLst>
          </a:prstGeom>
          <a:solidFill>
            <a:srgbClr val="F3F4F2"/>
          </a:solidFill>
          <a:ln w="12700">
            <a:solidFill>
              <a:srgbClr val="F3F4F2"/>
            </a:solidFill>
            <a:prstDash val="solid"/>
          </a:ln>
        </p:spPr>
      </p:sp>
      <p:sp>
        <p:nvSpPr>
          <p:cNvPr id="9" name="Shape 7"/>
          <p:cNvSpPr/>
          <p:nvPr/>
        </p:nvSpPr>
        <p:spPr>
          <a:xfrm>
            <a:off x="4750308" y="2788920"/>
            <a:ext cx="548640" cy="548640"/>
          </a:xfrm>
          <a:prstGeom prst="ellipse">
            <a:avLst/>
          </a:prstGeom>
          <a:solidFill>
            <a:srgbClr val="C2410C"/>
          </a:solidFill>
          <a:ln w="12700">
            <a:solidFill>
              <a:srgbClr val="C2410C"/>
            </a:solidFill>
            <a:prstDash val="solid"/>
          </a:ln>
        </p:spPr>
      </p:sp>
      <p:sp>
        <p:nvSpPr>
          <p:cNvPr id="10" name="Text 8"/>
          <p:cNvSpPr txBox="1"/>
          <p:nvPr/>
        </p:nvSpPr>
        <p:spPr>
          <a:xfrm>
            <a:off x="4750308"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1" name="Text 9"/>
          <p:cNvSpPr txBox="1"/>
          <p:nvPr/>
        </p:nvSpPr>
        <p:spPr>
          <a:xfrm>
            <a:off x="4750308" y="3611880"/>
            <a:ext cx="2688336" cy="411480"/>
          </a:xfrm>
          <a:prstGeom prst="rect">
            <a:avLst/>
          </a:prstGeom>
          <a:noFill/>
          <a:ln/>
        </p:spPr>
        <p:txBody>
          <a:bodyPr wrap="square" lIns="0" tIns="0" rIns="0" bIns="0" rtlCol="0" anchor="ctr"/>
          <a:lstStyle/>
          <a:p>
            <a:pPr indent="0" marL="0">
              <a:buNone/>
            </a:pPr>
            <a:r>
              <a:rPr lang="en-US" sz="2200" b="1" dirty="0">
                <a:solidFill>
                  <a:srgbClr val="1C1B18"/>
                </a:solidFill>
                <a:latin typeface="Arial" pitchFamily="34" charset="0"/>
                <a:ea typeface="Arial" pitchFamily="34" charset="-122"/>
                <a:cs typeface="Arial" pitchFamily="34" charset="-120"/>
              </a:rPr>
              <a:t>Mixed notes</a:t>
            </a:r>
            <a:endParaRPr lang="en-US" sz="2200" dirty="0"/>
          </a:p>
        </p:txBody>
      </p:sp>
      <p:sp>
        <p:nvSpPr>
          <p:cNvPr id="12" name="Text 10"/>
          <p:cNvSpPr txBox="1"/>
          <p:nvPr/>
        </p:nvSpPr>
        <p:spPr>
          <a:xfrm>
            <a:off x="4750308" y="4160520"/>
            <a:ext cx="2688336" cy="1188720"/>
          </a:xfrm>
          <a:prstGeom prst="rect">
            <a:avLst/>
          </a:prstGeom>
          <a:noFill/>
          <a:ln/>
        </p:spPr>
        <p:txBody>
          <a:bodyPr wrap="square" lIns="0" tIns="0" rIns="0" bIns="0" rtlCol="0" anchor="t"/>
          <a:lstStyle/>
          <a:p>
            <a:pPr indent="0" marL="0">
              <a:buNone/>
            </a:pPr>
            <a:r>
              <a:rPr lang="en-US" sz="1700" dirty="0">
                <a:solidFill>
                  <a:srgbClr val="5F5C54"/>
                </a:solidFill>
                <a:latin typeface="Calibri" pitchFamily="34" charset="0"/>
                <a:ea typeface="Calibri" pitchFamily="34" charset="-122"/>
                <a:cs typeface="Calibri" pitchFamily="34" charset="-120"/>
              </a:rPr>
              <a:t>One note can hold a fault the fleet needs and a name that must not leave.</a:t>
            </a:r>
            <a:endParaRPr lang="en-US" sz="1700" dirty="0"/>
          </a:p>
        </p:txBody>
      </p:sp>
      <p:sp>
        <p:nvSpPr>
          <p:cNvPr id="13" name="Shape 11"/>
          <p:cNvSpPr/>
          <p:nvPr/>
        </p:nvSpPr>
        <p:spPr>
          <a:xfrm>
            <a:off x="8129016" y="2423160"/>
            <a:ext cx="3419856" cy="3200400"/>
          </a:xfrm>
          <a:prstGeom prst="roundRect">
            <a:avLst>
              <a:gd name="adj" fmla="val 3429"/>
            </a:avLst>
          </a:prstGeom>
          <a:solidFill>
            <a:srgbClr val="F3F4F2"/>
          </a:solidFill>
          <a:ln w="12700">
            <a:solidFill>
              <a:srgbClr val="F3F4F2"/>
            </a:solidFill>
            <a:prstDash val="solid"/>
          </a:ln>
        </p:spPr>
      </p:sp>
      <p:sp>
        <p:nvSpPr>
          <p:cNvPr id="14" name="Shape 12"/>
          <p:cNvSpPr/>
          <p:nvPr/>
        </p:nvSpPr>
        <p:spPr>
          <a:xfrm>
            <a:off x="8494776" y="2788920"/>
            <a:ext cx="548640" cy="548640"/>
          </a:xfrm>
          <a:prstGeom prst="ellipse">
            <a:avLst/>
          </a:prstGeom>
          <a:solidFill>
            <a:srgbClr val="C2410C"/>
          </a:solidFill>
          <a:ln w="12700">
            <a:solidFill>
              <a:srgbClr val="C2410C"/>
            </a:solidFill>
            <a:prstDash val="solid"/>
          </a:ln>
        </p:spPr>
      </p:sp>
      <p:sp>
        <p:nvSpPr>
          <p:cNvPr id="15" name="Text 13"/>
          <p:cNvSpPr txBox="1"/>
          <p:nvPr/>
        </p:nvSpPr>
        <p:spPr>
          <a:xfrm>
            <a:off x="8494776"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6" name="Text 14"/>
          <p:cNvSpPr txBox="1"/>
          <p:nvPr/>
        </p:nvSpPr>
        <p:spPr>
          <a:xfrm>
            <a:off x="8494776" y="3611880"/>
            <a:ext cx="2688336" cy="411480"/>
          </a:xfrm>
          <a:prstGeom prst="rect">
            <a:avLst/>
          </a:prstGeom>
          <a:noFill/>
          <a:ln/>
        </p:spPr>
        <p:txBody>
          <a:bodyPr wrap="square" lIns="0" tIns="0" rIns="0" bIns="0" rtlCol="0" anchor="ctr"/>
          <a:lstStyle/>
          <a:p>
            <a:pPr indent="0" marL="0">
              <a:buNone/>
            </a:pPr>
            <a:r>
              <a:rPr lang="en-US" sz="2200" b="1" dirty="0">
                <a:solidFill>
                  <a:srgbClr val="1C1B18"/>
                </a:solidFill>
                <a:latin typeface="Arial" pitchFamily="34" charset="0"/>
                <a:ea typeface="Arial" pitchFamily="34" charset="-122"/>
                <a:cs typeface="Arial" pitchFamily="34" charset="-120"/>
              </a:rPr>
              <a:t>Drift</a:t>
            </a:r>
            <a:endParaRPr lang="en-US" sz="2200" dirty="0"/>
          </a:p>
        </p:txBody>
      </p:sp>
      <p:sp>
        <p:nvSpPr>
          <p:cNvPr id="17" name="Text 15"/>
          <p:cNvSpPr txBox="1"/>
          <p:nvPr/>
        </p:nvSpPr>
        <p:spPr>
          <a:xfrm>
            <a:off x="8494776" y="4160520"/>
            <a:ext cx="2688336" cy="1188720"/>
          </a:xfrm>
          <a:prstGeom prst="rect">
            <a:avLst/>
          </a:prstGeom>
          <a:noFill/>
          <a:ln/>
        </p:spPr>
        <p:txBody>
          <a:bodyPr wrap="square" lIns="0" tIns="0" rIns="0" bIns="0" rtlCol="0" anchor="t"/>
          <a:lstStyle/>
          <a:p>
            <a:pPr indent="0" marL="0">
              <a:buNone/>
            </a:pPr>
            <a:r>
              <a:rPr lang="en-US" sz="1700" dirty="0">
                <a:solidFill>
                  <a:srgbClr val="5F5C54"/>
                </a:solidFill>
                <a:latin typeface="Calibri" pitchFamily="34" charset="0"/>
                <a:ea typeface="Calibri" pitchFamily="34" charset="-122"/>
                <a:cs typeface="Calibri" pitchFamily="34" charset="-120"/>
              </a:rPr>
              <a:t>Devices that work apart come back with different versions of the truth.</a:t>
            </a:r>
            <a:endParaRPr lang="en-US" sz="1700" dirty="0"/>
          </a:p>
        </p:txBody>
      </p:sp>
      <p:sp>
        <p:nvSpPr>
          <p:cNvPr id="18" name="Text 16"/>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The device that keeps working</a:t>
            </a:r>
            <a:endParaRPr lang="en-US" sz="3600" dirty="0"/>
          </a:p>
        </p:txBody>
      </p:sp>
      <p:sp>
        <p:nvSpPr>
          <p:cNvPr id="3" name="Shape 1"/>
          <p:cNvSpPr/>
          <p:nvPr/>
        </p:nvSpPr>
        <p:spPr>
          <a:xfrm>
            <a:off x="640080" y="1801368"/>
            <a:ext cx="457200" cy="457200"/>
          </a:xfrm>
          <a:prstGeom prst="ellipse">
            <a:avLst/>
          </a:prstGeom>
          <a:solidFill>
            <a:srgbClr val="C2410C"/>
          </a:solidFill>
          <a:ln w="12700">
            <a:solidFill>
              <a:srgbClr val="C2410C"/>
            </a:solidFill>
            <a:prstDash val="solid"/>
          </a:ln>
        </p:spPr>
      </p:sp>
      <p:sp>
        <p:nvSpPr>
          <p:cNvPr id="4" name="Text 2"/>
          <p:cNvSpPr txBox="1"/>
          <p:nvPr/>
        </p:nvSpPr>
        <p:spPr>
          <a:xfrm>
            <a:off x="640080" y="18013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 name="Text 3"/>
          <p:cNvSpPr txBox="1"/>
          <p:nvPr/>
        </p:nvSpPr>
        <p:spPr>
          <a:xfrm>
            <a:off x="1325880" y="17830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Record</a:t>
            </a:r>
            <a:endParaRPr lang="en-US" sz="2000" dirty="0"/>
          </a:p>
        </p:txBody>
      </p:sp>
      <p:sp>
        <p:nvSpPr>
          <p:cNvPr id="6" name="Text 4"/>
          <p:cNvSpPr txBox="1"/>
          <p:nvPr/>
        </p:nvSpPr>
        <p:spPr>
          <a:xfrm>
            <a:off x="1325880" y="22402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Write, dictate or photograph what you saw. The device shows what it will share before you save.</a:t>
            </a:r>
            <a:endParaRPr lang="en-US" sz="1600" dirty="0"/>
          </a:p>
        </p:txBody>
      </p:sp>
      <p:sp>
        <p:nvSpPr>
          <p:cNvPr id="7" name="Shape 5"/>
          <p:cNvSpPr/>
          <p:nvPr/>
        </p:nvSpPr>
        <p:spPr>
          <a:xfrm>
            <a:off x="640080" y="3172968"/>
            <a:ext cx="457200" cy="457200"/>
          </a:xfrm>
          <a:prstGeom prst="ellipse">
            <a:avLst/>
          </a:prstGeom>
          <a:solidFill>
            <a:srgbClr val="C2410C"/>
          </a:solidFill>
          <a:ln w="12700">
            <a:solidFill>
              <a:srgbClr val="C2410C"/>
            </a:solidFill>
            <a:prstDash val="solid"/>
          </a:ln>
        </p:spPr>
      </p:sp>
      <p:sp>
        <p:nvSpPr>
          <p:cNvPr id="8" name="Text 6"/>
          <p:cNvSpPr txBox="1"/>
          <p:nvPr/>
        </p:nvSpPr>
        <p:spPr>
          <a:xfrm>
            <a:off x="640080" y="31729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txBox="1"/>
          <p:nvPr/>
        </p:nvSpPr>
        <p:spPr>
          <a:xfrm>
            <a:off x="1325880" y="31546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Find</a:t>
            </a:r>
            <a:endParaRPr lang="en-US" sz="2000" dirty="0"/>
          </a:p>
        </p:txBody>
      </p:sp>
      <p:sp>
        <p:nvSpPr>
          <p:cNvPr id="10" name="Text 8"/>
          <p:cNvSpPr txBox="1"/>
          <p:nvPr/>
        </p:nvSpPr>
        <p:spPr>
          <a:xfrm>
            <a:off x="1325880" y="36118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Search your notes, photos and headquarters manuals in about a millisecond.</a:t>
            </a:r>
            <a:endParaRPr lang="en-US" sz="1600" dirty="0"/>
          </a:p>
        </p:txBody>
      </p:sp>
      <p:sp>
        <p:nvSpPr>
          <p:cNvPr id="11" name="Shape 9"/>
          <p:cNvSpPr/>
          <p:nvPr/>
        </p:nvSpPr>
        <p:spPr>
          <a:xfrm>
            <a:off x="640080" y="4544568"/>
            <a:ext cx="457200" cy="457200"/>
          </a:xfrm>
          <a:prstGeom prst="ellipse">
            <a:avLst/>
          </a:prstGeom>
          <a:solidFill>
            <a:srgbClr val="C2410C"/>
          </a:solidFill>
          <a:ln w="12700">
            <a:solidFill>
              <a:srgbClr val="C2410C"/>
            </a:solidFill>
            <a:prstDash val="solid"/>
          </a:ln>
        </p:spPr>
      </p:sp>
      <p:sp>
        <p:nvSpPr>
          <p:cNvPr id="12" name="Text 10"/>
          <p:cNvSpPr txBox="1"/>
          <p:nvPr/>
        </p:nvSpPr>
        <p:spPr>
          <a:xfrm>
            <a:off x="640080" y="45445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3" name="Text 11"/>
          <p:cNvSpPr txBox="1"/>
          <p:nvPr/>
        </p:nvSpPr>
        <p:spPr>
          <a:xfrm>
            <a:off x="1325880" y="45262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Ask</a:t>
            </a:r>
            <a:endParaRPr lang="en-US" sz="2000" dirty="0"/>
          </a:p>
        </p:txBody>
      </p:sp>
      <p:sp>
        <p:nvSpPr>
          <p:cNvPr id="14" name="Text 12"/>
          <p:cNvSpPr txBox="1"/>
          <p:nvPr/>
        </p:nvSpPr>
        <p:spPr>
          <a:xfrm>
            <a:off x="1325880" y="49834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Get a cited answer written on the device, checked against its sources. No cloud call.</a:t>
            </a:r>
            <a:endParaRPr lang="en-US" sz="1600" dirty="0"/>
          </a:p>
        </p:txBody>
      </p:sp>
      <p:sp>
        <p:nvSpPr>
          <p:cNvPr id="15" name="Shape 13"/>
          <p:cNvSpPr/>
          <p:nvPr/>
        </p:nvSpPr>
        <p:spPr>
          <a:xfrm>
            <a:off x="4965192" y="1581912"/>
            <a:ext cx="6601968" cy="4595876"/>
          </a:xfrm>
          <a:prstGeom prst="rect">
            <a:avLst/>
          </a:prstGeom>
          <a:solidFill>
            <a:srgbClr val="FFFFFF"/>
          </a:solidFill>
          <a:ln w="9525">
            <a:solidFill>
              <a:srgbClr val="D9D9D4"/>
            </a:solidFill>
            <a:prstDash val="solid"/>
          </a:ln>
          <a:effectLst>
            <a:outerShdw sx="100000" sy="100000" kx="0" ky="0" algn="bl" rotWithShape="0" blurRad="152400" dist="38100" dir="5400000">
              <a:srgbClr val="000000">
                <a:alpha val="18000"/>
              </a:srgbClr>
            </a:outerShdw>
          </a:effectLst>
        </p:spPr>
      </p:sp>
      <p:sp>
        <p:nvSpPr>
          <p:cNvPr id="17" name="Text 14"/>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03</a:t>
            </a:r>
            <a:endParaRPr lang="en-US" sz="1100" dirty="0"/>
          </a:p>
        </p:txBody>
      </p:sp>
      <p:pic>
        <p:nvPicPr>
          <p:cNvPr id="18" name="Picture 17" descr="offline-work.png"/>
          <p:cNvPicPr>
            <a:picLocks noChangeAspect="1"/>
          </p:cNvPicPr>
          <p:nvPr/>
        </p:nvPicPr>
        <p:blipFill>
          <a:blip r:embed="rId4"/>
          <a:stretch>
            <a:fillRect/>
          </a:stretch>
        </p:blipFill>
        <p:spPr>
          <a:xfrm>
            <a:off x="4983480" y="1600200"/>
            <a:ext cx="6565392" cy="45593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One device process, one cloud collection</a:t>
            </a:r>
            <a:endParaRPr lang="en-US" sz="3600" dirty="0"/>
          </a:p>
        </p:txBody>
      </p:sp>
      <p:sp>
        <p:nvSpPr>
          <p:cNvPr id="3" name="Shape 1"/>
          <p:cNvSpPr/>
          <p:nvPr/>
        </p:nvSpPr>
        <p:spPr>
          <a:xfrm>
            <a:off x="640080" y="1691640"/>
            <a:ext cx="6400800" cy="4343400"/>
          </a:xfrm>
          <a:prstGeom prst="roundRect">
            <a:avLst>
              <a:gd name="adj" fmla="val 2526"/>
            </a:avLst>
          </a:prstGeom>
          <a:solidFill>
            <a:srgbClr val="F3F4F2"/>
          </a:solidFill>
          <a:ln w="12700">
            <a:solidFill>
              <a:srgbClr val="F3F4F2"/>
            </a:solidFill>
            <a:prstDash val="solid"/>
          </a:ln>
        </p:spPr>
      </p:sp>
      <p:sp>
        <p:nvSpPr>
          <p:cNvPr id="4" name="Text 2"/>
          <p:cNvSpPr txBox="1"/>
          <p:nvPr/>
        </p:nvSpPr>
        <p:spPr>
          <a:xfrm>
            <a:off x="914400" y="1874520"/>
            <a:ext cx="3657600" cy="365760"/>
          </a:xfrm>
          <a:prstGeom prst="rect">
            <a:avLst/>
          </a:prstGeom>
          <a:noFill/>
          <a:ln/>
        </p:spPr>
        <p:txBody>
          <a:bodyPr wrap="square" lIns="0" tIns="0" rIns="0" bIns="0" rtlCol="0" anchor="ctr"/>
          <a:lstStyle/>
          <a:p>
            <a:pPr indent="0" marL="0">
              <a:buNone/>
            </a:pPr>
            <a:r>
              <a:rPr lang="en-US" sz="1800" b="1" dirty="0">
                <a:solidFill>
                  <a:srgbClr val="1C1B18"/>
                </a:solidFill>
                <a:latin typeface="Arial" pitchFamily="34" charset="0"/>
                <a:ea typeface="Arial" pitchFamily="34" charset="-122"/>
                <a:cs typeface="Arial" pitchFamily="34" charset="-120"/>
              </a:rPr>
              <a:t>Edge device</a:t>
            </a:r>
            <a:endParaRPr lang="en-US" sz="1800" dirty="0"/>
          </a:p>
        </p:txBody>
      </p:sp>
      <p:sp>
        <p:nvSpPr>
          <p:cNvPr id="5" name="Shape 3"/>
          <p:cNvSpPr/>
          <p:nvPr/>
        </p:nvSpPr>
        <p:spPr>
          <a:xfrm>
            <a:off x="914400" y="2423160"/>
            <a:ext cx="2834640" cy="1005840"/>
          </a:xfrm>
          <a:prstGeom prst="roundRect">
            <a:avLst>
              <a:gd name="adj" fmla="val 10909"/>
            </a:avLst>
          </a:prstGeom>
          <a:solidFill>
            <a:srgbClr val="DDE8FB"/>
          </a:solidFill>
          <a:ln w="12700">
            <a:solidFill>
              <a:srgbClr val="DDE8FB"/>
            </a:solidFill>
            <a:prstDash val="solid"/>
          </a:ln>
        </p:spPr>
      </p:sp>
      <p:sp>
        <p:nvSpPr>
          <p:cNvPr id="6" name="Text 4"/>
          <p:cNvSpPr txBox="1"/>
          <p:nvPr/>
        </p:nvSpPr>
        <p:spPr>
          <a:xfrm>
            <a:off x="1143000" y="2578608"/>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Local shard</a:t>
            </a:r>
            <a:endParaRPr lang="en-US" sz="1600" dirty="0"/>
          </a:p>
        </p:txBody>
      </p:sp>
      <p:sp>
        <p:nvSpPr>
          <p:cNvPr id="7" name="Text 5"/>
          <p:cNvSpPr txBox="1"/>
          <p:nvPr/>
        </p:nvSpPr>
        <p:spPr>
          <a:xfrm>
            <a:off x="1143000" y="2953512"/>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Written here, private too, sealed on disk</a:t>
            </a:r>
            <a:endParaRPr lang="en-US" sz="1400" dirty="0"/>
          </a:p>
        </p:txBody>
      </p:sp>
      <p:sp>
        <p:nvSpPr>
          <p:cNvPr id="8" name="Shape 6"/>
          <p:cNvSpPr/>
          <p:nvPr/>
        </p:nvSpPr>
        <p:spPr>
          <a:xfrm>
            <a:off x="3931920" y="2423160"/>
            <a:ext cx="2834640" cy="1005840"/>
          </a:xfrm>
          <a:prstGeom prst="roundRect">
            <a:avLst>
              <a:gd name="adj" fmla="val 10909"/>
            </a:avLst>
          </a:prstGeom>
          <a:solidFill>
            <a:srgbClr val="DDE8FB"/>
          </a:solidFill>
          <a:ln w="12700">
            <a:solidFill>
              <a:srgbClr val="DDE8FB"/>
            </a:solidFill>
            <a:prstDash val="solid"/>
          </a:ln>
        </p:spPr>
      </p:sp>
      <p:sp>
        <p:nvSpPr>
          <p:cNvPr id="9" name="Text 7"/>
          <p:cNvSpPr txBox="1"/>
          <p:nvPr/>
        </p:nvSpPr>
        <p:spPr>
          <a:xfrm>
            <a:off x="4160520" y="2578608"/>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Replica shard</a:t>
            </a:r>
            <a:endParaRPr lang="en-US" sz="1600" dirty="0"/>
          </a:p>
        </p:txBody>
      </p:sp>
      <p:sp>
        <p:nvSpPr>
          <p:cNvPr id="10" name="Text 8"/>
          <p:cNvSpPr txBox="1"/>
          <p:nvPr/>
        </p:nvSpPr>
        <p:spPr>
          <a:xfrm>
            <a:off x="4160520" y="2953512"/>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Cloud knowledge, or from nearby devices</a:t>
            </a:r>
            <a:endParaRPr lang="en-US" sz="1400" dirty="0"/>
          </a:p>
        </p:txBody>
      </p:sp>
      <p:sp>
        <p:nvSpPr>
          <p:cNvPr id="11" name="Shape 9"/>
          <p:cNvSpPr/>
          <p:nvPr/>
        </p:nvSpPr>
        <p:spPr>
          <a:xfrm>
            <a:off x="914400" y="3584448"/>
            <a:ext cx="2834640" cy="1005840"/>
          </a:xfrm>
          <a:prstGeom prst="roundRect">
            <a:avLst>
              <a:gd name="adj" fmla="val 10909"/>
            </a:avLst>
          </a:prstGeom>
          <a:solidFill>
            <a:srgbClr val="FFFFFF"/>
          </a:solidFill>
          <a:ln w="12700">
            <a:solidFill>
              <a:srgbClr val="FFFFFF"/>
            </a:solidFill>
            <a:prstDash val="solid"/>
          </a:ln>
        </p:spPr>
      </p:sp>
      <p:sp>
        <p:nvSpPr>
          <p:cNvPr id="12" name="Text 10"/>
          <p:cNvSpPr txBox="1"/>
          <p:nvPr/>
        </p:nvSpPr>
        <p:spPr>
          <a:xfrm>
            <a:off x="1143000" y="3739896"/>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Policy engine</a:t>
            </a:r>
            <a:endParaRPr lang="en-US" sz="1600" dirty="0"/>
          </a:p>
        </p:txBody>
      </p:sp>
      <p:sp>
        <p:nvSpPr>
          <p:cNvPr id="13" name="Text 11"/>
          <p:cNvSpPr txBox="1"/>
          <p:nvPr/>
        </p:nvSpPr>
        <p:spPr>
          <a:xfrm>
            <a:off x="1143000" y="4114800"/>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Decides what may leave, learns from you</a:t>
            </a:r>
            <a:endParaRPr lang="en-US" sz="1400" dirty="0"/>
          </a:p>
        </p:txBody>
      </p:sp>
      <p:sp>
        <p:nvSpPr>
          <p:cNvPr id="14" name="Shape 12"/>
          <p:cNvSpPr/>
          <p:nvPr/>
        </p:nvSpPr>
        <p:spPr>
          <a:xfrm>
            <a:off x="3931920" y="3584448"/>
            <a:ext cx="2834640" cy="1005840"/>
          </a:xfrm>
          <a:prstGeom prst="roundRect">
            <a:avLst>
              <a:gd name="adj" fmla="val 10909"/>
            </a:avLst>
          </a:prstGeom>
          <a:solidFill>
            <a:srgbClr val="FFFFFF"/>
          </a:solidFill>
          <a:ln w="12700">
            <a:solidFill>
              <a:srgbClr val="FFFFFF"/>
            </a:solidFill>
            <a:prstDash val="solid"/>
          </a:ln>
        </p:spPr>
      </p:sp>
      <p:sp>
        <p:nvSpPr>
          <p:cNvPr id="15" name="Text 13"/>
          <p:cNvSpPr txBox="1"/>
          <p:nvPr/>
        </p:nvSpPr>
        <p:spPr>
          <a:xfrm>
            <a:off x="4160520" y="3739896"/>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Embeddings</a:t>
            </a:r>
            <a:endParaRPr lang="en-US" sz="1600" dirty="0"/>
          </a:p>
        </p:txBody>
      </p:sp>
      <p:sp>
        <p:nvSpPr>
          <p:cNvPr id="16" name="Text 14"/>
          <p:cNvSpPr txBox="1"/>
          <p:nvPr/>
        </p:nvSpPr>
        <p:spPr>
          <a:xfrm>
            <a:off x="4160520" y="4114800"/>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bge-small and BM25, MiniLM reranker, CLIP</a:t>
            </a:r>
            <a:endParaRPr lang="en-US" sz="1400" dirty="0"/>
          </a:p>
        </p:txBody>
      </p:sp>
      <p:sp>
        <p:nvSpPr>
          <p:cNvPr id="17" name="Shape 15"/>
          <p:cNvSpPr/>
          <p:nvPr/>
        </p:nvSpPr>
        <p:spPr>
          <a:xfrm>
            <a:off x="914400" y="4745736"/>
            <a:ext cx="2834640" cy="1005840"/>
          </a:xfrm>
          <a:prstGeom prst="roundRect">
            <a:avLst>
              <a:gd name="adj" fmla="val 10909"/>
            </a:avLst>
          </a:prstGeom>
          <a:solidFill>
            <a:srgbClr val="FFFFFF"/>
          </a:solidFill>
          <a:ln w="12700">
            <a:solidFill>
              <a:srgbClr val="FFFFFF"/>
            </a:solidFill>
            <a:prstDash val="solid"/>
          </a:ln>
        </p:spPr>
      </p:sp>
      <p:sp>
        <p:nvSpPr>
          <p:cNvPr id="18" name="Text 16"/>
          <p:cNvSpPr txBox="1"/>
          <p:nvPr/>
        </p:nvSpPr>
        <p:spPr>
          <a:xfrm>
            <a:off x="1143000" y="4901184"/>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Journal</a:t>
            </a:r>
            <a:endParaRPr lang="en-US" sz="1600" dirty="0"/>
          </a:p>
        </p:txBody>
      </p:sp>
      <p:sp>
        <p:nvSpPr>
          <p:cNvPr id="19" name="Text 17"/>
          <p:cNvSpPr txBox="1"/>
          <p:nvPr/>
        </p:nvSpPr>
        <p:spPr>
          <a:xfrm>
            <a:off x="1143000" y="5276088"/>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Outbox, conflicts, activity</a:t>
            </a:r>
            <a:endParaRPr lang="en-US" sz="1400" dirty="0"/>
          </a:p>
        </p:txBody>
      </p:sp>
      <p:sp>
        <p:nvSpPr>
          <p:cNvPr id="20" name="Shape 18"/>
          <p:cNvSpPr/>
          <p:nvPr/>
        </p:nvSpPr>
        <p:spPr>
          <a:xfrm>
            <a:off x="3931920" y="4745736"/>
            <a:ext cx="2834640" cy="1005840"/>
          </a:xfrm>
          <a:prstGeom prst="roundRect">
            <a:avLst>
              <a:gd name="adj" fmla="val 10909"/>
            </a:avLst>
          </a:prstGeom>
          <a:solidFill>
            <a:srgbClr val="FFFFFF"/>
          </a:solidFill>
          <a:ln w="12700">
            <a:solidFill>
              <a:srgbClr val="FFFFFF"/>
            </a:solidFill>
            <a:prstDash val="solid"/>
          </a:ln>
        </p:spPr>
      </p:sp>
      <p:sp>
        <p:nvSpPr>
          <p:cNvPr id="21" name="Text 19"/>
          <p:cNvSpPr txBox="1"/>
          <p:nvPr/>
        </p:nvSpPr>
        <p:spPr>
          <a:xfrm>
            <a:off x="4160520" y="4901184"/>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Answer model</a:t>
            </a:r>
            <a:endParaRPr lang="en-US" sz="1600" dirty="0"/>
          </a:p>
        </p:txBody>
      </p:sp>
      <p:sp>
        <p:nvSpPr>
          <p:cNvPr id="22" name="Text 20"/>
          <p:cNvSpPr txBox="1"/>
          <p:nvPr/>
        </p:nvSpPr>
        <p:spPr>
          <a:xfrm>
            <a:off x="4160520" y="5276088"/>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llama3.2 3B, optional</a:t>
            </a:r>
            <a:endParaRPr lang="en-US" sz="1400" dirty="0"/>
          </a:p>
        </p:txBody>
      </p:sp>
      <p:sp>
        <p:nvSpPr>
          <p:cNvPr id="23" name="Text 21"/>
          <p:cNvSpPr txBox="1"/>
          <p:nvPr/>
        </p:nvSpPr>
        <p:spPr>
          <a:xfrm>
            <a:off x="7269480" y="2514600"/>
            <a:ext cx="1508760" cy="274320"/>
          </a:xfrm>
          <a:prstGeom prst="rect">
            <a:avLst/>
          </a:prstGeom>
          <a:noFill/>
          <a:ln/>
        </p:spPr>
        <p:txBody>
          <a:bodyPr wrap="square" lIns="0" tIns="0" rIns="0" bIns="0" rtlCol="0" anchor="t"/>
          <a:lstStyle/>
          <a:p>
            <a:pPr algn="ctr" indent="0" marL="0">
              <a:buNone/>
            </a:pPr>
            <a:r>
              <a:rPr lang="en-US" sz="1400" b="1" dirty="0">
                <a:solidFill>
                  <a:srgbClr val="1C1B18"/>
                </a:solidFill>
                <a:latin typeface="Arial" pitchFamily="34" charset="0"/>
                <a:ea typeface="Arial" pitchFamily="34" charset="-122"/>
                <a:cs typeface="Arial" pitchFamily="34" charset="-120"/>
              </a:rPr>
              <a:t>Push</a:t>
            </a:r>
            <a:endParaRPr lang="en-US" sz="1400" dirty="0"/>
          </a:p>
        </p:txBody>
      </p:sp>
      <p:sp>
        <p:nvSpPr>
          <p:cNvPr id="24" name="Shape 22"/>
          <p:cNvSpPr/>
          <p:nvPr/>
        </p:nvSpPr>
        <p:spPr>
          <a:xfrm>
            <a:off x="7406640" y="2834640"/>
            <a:ext cx="1234440" cy="548640"/>
          </a:xfrm>
          <a:prstGeom prst="rightArrow">
            <a:avLst/>
          </a:prstGeom>
          <a:solidFill>
            <a:srgbClr val="C2410C"/>
          </a:solidFill>
          <a:ln w="12700">
            <a:solidFill>
              <a:srgbClr val="C2410C"/>
            </a:solidFill>
            <a:prstDash val="solid"/>
          </a:ln>
        </p:spPr>
      </p:sp>
      <p:sp>
        <p:nvSpPr>
          <p:cNvPr id="25" name="Text 23"/>
          <p:cNvSpPr txBox="1"/>
          <p:nvPr/>
        </p:nvSpPr>
        <p:spPr>
          <a:xfrm>
            <a:off x="7269480" y="3429000"/>
            <a:ext cx="1508760" cy="274320"/>
          </a:xfrm>
          <a:prstGeom prst="rect">
            <a:avLst/>
          </a:prstGeom>
          <a:noFill/>
          <a:ln/>
        </p:spPr>
        <p:txBody>
          <a:bodyPr wrap="square" lIns="0" tIns="0" rIns="0" bIns="0" rtlCol="0" anchor="t"/>
          <a:lstStyle/>
          <a:p>
            <a:pPr algn="ctr" indent="0" marL="0">
              <a:buNone/>
            </a:pPr>
            <a:r>
              <a:rPr lang="en-US" sz="1200" dirty="0">
                <a:solidFill>
                  <a:srgbClr val="5F5C54"/>
                </a:solidFill>
                <a:latin typeface="Calibri" pitchFamily="34" charset="0"/>
                <a:ea typeface="Calibri" pitchFamily="34" charset="-122"/>
                <a:cs typeface="Calibri" pitchFamily="34" charset="-120"/>
              </a:rPr>
              <a:t>compare and swap</a:t>
            </a:r>
            <a:endParaRPr lang="en-US" sz="1200" dirty="0"/>
          </a:p>
        </p:txBody>
      </p:sp>
      <p:sp>
        <p:nvSpPr>
          <p:cNvPr id="26" name="Text 24"/>
          <p:cNvSpPr txBox="1"/>
          <p:nvPr/>
        </p:nvSpPr>
        <p:spPr>
          <a:xfrm>
            <a:off x="7269480" y="4069080"/>
            <a:ext cx="1508760" cy="274320"/>
          </a:xfrm>
          <a:prstGeom prst="rect">
            <a:avLst/>
          </a:prstGeom>
          <a:noFill/>
          <a:ln/>
        </p:spPr>
        <p:txBody>
          <a:bodyPr wrap="square" lIns="0" tIns="0" rIns="0" bIns="0" rtlCol="0" anchor="t"/>
          <a:lstStyle/>
          <a:p>
            <a:pPr algn="ctr" indent="0" marL="0">
              <a:buNone/>
            </a:pPr>
            <a:r>
              <a:rPr lang="en-US" sz="1400" b="1" dirty="0">
                <a:solidFill>
                  <a:srgbClr val="1C1B18"/>
                </a:solidFill>
                <a:latin typeface="Arial" pitchFamily="34" charset="0"/>
                <a:ea typeface="Arial" pitchFamily="34" charset="-122"/>
                <a:cs typeface="Arial" pitchFamily="34" charset="-120"/>
              </a:rPr>
              <a:t>Pull</a:t>
            </a:r>
            <a:endParaRPr lang="en-US" sz="1400" dirty="0"/>
          </a:p>
        </p:txBody>
      </p:sp>
      <p:sp>
        <p:nvSpPr>
          <p:cNvPr id="27" name="Shape 25"/>
          <p:cNvSpPr/>
          <p:nvPr/>
        </p:nvSpPr>
        <p:spPr>
          <a:xfrm>
            <a:off x="7406640" y="4389120"/>
            <a:ext cx="1234440" cy="548640"/>
          </a:xfrm>
          <a:prstGeom prst="leftArrow">
            <a:avLst/>
          </a:prstGeom>
          <a:solidFill>
            <a:srgbClr val="1F5FD1"/>
          </a:solidFill>
          <a:ln w="12700">
            <a:solidFill>
              <a:srgbClr val="1F5FD1"/>
            </a:solidFill>
            <a:prstDash val="solid"/>
          </a:ln>
        </p:spPr>
      </p:sp>
      <p:sp>
        <p:nvSpPr>
          <p:cNvPr id="28" name="Text 26"/>
          <p:cNvSpPr txBox="1"/>
          <p:nvPr/>
        </p:nvSpPr>
        <p:spPr>
          <a:xfrm>
            <a:off x="7269480" y="4983480"/>
            <a:ext cx="1508760" cy="274320"/>
          </a:xfrm>
          <a:prstGeom prst="rect">
            <a:avLst/>
          </a:prstGeom>
          <a:noFill/>
          <a:ln/>
        </p:spPr>
        <p:txBody>
          <a:bodyPr wrap="square" lIns="0" tIns="0" rIns="0" bIns="0" rtlCol="0" anchor="t"/>
          <a:lstStyle/>
          <a:p>
            <a:pPr algn="ctr" indent="0" marL="0">
              <a:buNone/>
            </a:pPr>
            <a:r>
              <a:rPr lang="en-US" sz="1200" dirty="0">
                <a:solidFill>
                  <a:srgbClr val="5F5C54"/>
                </a:solidFill>
                <a:latin typeface="Calibri" pitchFamily="34" charset="0"/>
                <a:ea typeface="Calibri" pitchFamily="34" charset="-122"/>
                <a:cs typeface="Calibri" pitchFamily="34" charset="-120"/>
              </a:rPr>
              <a:t>diff or snapshot</a:t>
            </a:r>
            <a:endParaRPr lang="en-US" sz="1200" dirty="0"/>
          </a:p>
        </p:txBody>
      </p:sp>
      <p:sp>
        <p:nvSpPr>
          <p:cNvPr id="29" name="Shape 27"/>
          <p:cNvSpPr/>
          <p:nvPr/>
        </p:nvSpPr>
        <p:spPr>
          <a:xfrm>
            <a:off x="9006840" y="1691640"/>
            <a:ext cx="2544775" cy="4343400"/>
          </a:xfrm>
          <a:prstGeom prst="roundRect">
            <a:avLst>
              <a:gd name="adj" fmla="val 4312"/>
            </a:avLst>
          </a:prstGeom>
          <a:solidFill>
            <a:srgbClr val="161714"/>
          </a:solidFill>
          <a:ln w="12700">
            <a:solidFill>
              <a:srgbClr val="161714"/>
            </a:solidFill>
            <a:prstDash val="solid"/>
          </a:ln>
        </p:spPr>
      </p:sp>
      <p:sp>
        <p:nvSpPr>
          <p:cNvPr id="30" name="Text 28"/>
          <p:cNvSpPr txBox="1"/>
          <p:nvPr/>
        </p:nvSpPr>
        <p:spPr>
          <a:xfrm>
            <a:off x="9281160" y="1874520"/>
            <a:ext cx="1996135" cy="36576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Qdrant Server</a:t>
            </a:r>
            <a:endParaRPr lang="en-US" sz="1800" dirty="0"/>
          </a:p>
        </p:txBody>
      </p:sp>
      <p:sp>
        <p:nvSpPr>
          <p:cNvPr id="31" name="Text 29"/>
          <p:cNvSpPr txBox="1"/>
          <p:nvPr/>
        </p:nvSpPr>
        <p:spPr>
          <a:xfrm>
            <a:off x="9281160" y="2468880"/>
            <a:ext cx="1996135"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Shared notes</a:t>
            </a:r>
            <a:endParaRPr lang="en-US" sz="1500" dirty="0"/>
          </a:p>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Masked notes</a:t>
            </a:r>
            <a:endParaRPr lang="en-US" sz="1500" dirty="0"/>
          </a:p>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Headquarters manuals</a:t>
            </a:r>
            <a:endParaRPr lang="en-US" sz="1500" dirty="0"/>
          </a:p>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Photo thumbnails</a:t>
            </a:r>
            <a:endParaRPr lang="en-US" sz="1500" dirty="0"/>
          </a:p>
        </p:txBody>
      </p:sp>
      <p:sp>
        <p:nvSpPr>
          <p:cNvPr id="32" name="Text 30"/>
          <p:cNvSpPr txBox="1"/>
          <p:nvPr/>
        </p:nvSpPr>
        <p:spPr>
          <a:xfrm>
            <a:off x="9281160" y="5166360"/>
            <a:ext cx="1996135" cy="594360"/>
          </a:xfrm>
          <a:prstGeom prst="rect">
            <a:avLst/>
          </a:prstGeom>
          <a:noFill/>
          <a:ln/>
        </p:spPr>
        <p:txBody>
          <a:bodyPr wrap="square" lIns="0" tIns="0" rIns="0" bIns="0" rtlCol="0" anchor="b"/>
          <a:lstStyle/>
          <a:p>
            <a:pPr indent="0" marL="0">
              <a:buNone/>
            </a:pPr>
            <a:r>
              <a:rPr lang="en-US" sz="1400" dirty="0">
                <a:solidFill>
                  <a:srgbClr val="F29A4A"/>
                </a:solidFill>
                <a:latin typeface="Calibri" pitchFamily="34" charset="0"/>
                <a:ea typeface="Calibri" pitchFamily="34" charset="-122"/>
                <a:cs typeface="Calibri" pitchFamily="34" charset="-120"/>
              </a:rPr>
              <a:t>Other devices sync here, or with each other when it is gone</a:t>
            </a:r>
            <a:endParaRPr lang="en-US" sz="1400" dirty="0"/>
          </a:p>
        </p:txBody>
      </p:sp>
      <p:sp>
        <p:nvSpPr>
          <p:cNvPr id="33" name="Text 31"/>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The device decides what leaves</a:t>
            </a:r>
            <a:endParaRPr lang="en-US" sz="3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6675120"/>
                <a:gridCol w="4233672"/>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the technician wrote</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happens</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Pump P-102 bearing vibration high at 7.2 mm/s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1A6B40"/>
                          </a:solidFill>
                          <a:latin typeface="Calibri" pitchFamily="34" charset="0"/>
                          <a:ea typeface="Calibri" pitchFamily="34" charset="-122"/>
                          <a:cs typeface="Calibri" pitchFamily="34" charset="-120"/>
                        </a:rPr>
                        <a:t>Shared</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Smell of gas near compressor K-4</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1A6B40"/>
                          </a:solidFill>
                          <a:latin typeface="Calibri" pitchFamily="34" charset="0"/>
                          <a:ea typeface="Calibri" pitchFamily="34" charset="-122"/>
                          <a:cs typeface="Calibri" pitchFamily="34" charset="-120"/>
                        </a:rPr>
                        <a:t>Shared, urgent, sent first</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Suresh and Priya replaced the coupling, call 9876543210</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1F5FD1"/>
                          </a:solidFill>
                          <a:latin typeface="Calibri" pitchFamily="34" charset="0"/>
                          <a:ea typeface="Calibri" pitchFamily="34" charset="-122"/>
                          <a:cs typeface="Calibri" pitchFamily="34" charset="-120"/>
                        </a:rPr>
                        <a:t>Shared, names and number masked</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Technician Ravi Kumar reported chest pain</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A3360A"/>
                          </a:solidFill>
                          <a:latin typeface="Calibri" pitchFamily="34" charset="0"/>
                          <a:ea typeface="Calibri" pitchFamily="34" charset="-122"/>
                          <a:cs typeface="Calibri" pitchFamily="34" charset="-120"/>
                        </a:rPr>
                        <a:t>Private, stays on the device</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SCADA panel login password is …</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A3360A"/>
                          </a:solidFill>
                          <a:latin typeface="Calibri" pitchFamily="34" charset="0"/>
                          <a:ea typeface="Calibri" pitchFamily="34" charset="-122"/>
                          <a:cs typeface="Calibri" pitchFamily="34" charset="-120"/>
                        </a:rPr>
                        <a:t>Private, cannot be overridden</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4" name="Text 1"/>
          <p:cNvSpPr txBox="1"/>
          <p:nvPr/>
        </p:nvSpPr>
        <p:spPr>
          <a:xfrm>
            <a:off x="640080" y="5257800"/>
            <a:ext cx="10911535" cy="82296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Decided in about 20 ms on the device by a name recognition model, pattern detectors (credentials, contacts, identity numbers, vehicles, badges, addresses) and a semantic classifier. Vectors for a masked note are computed from the masked text. Override a decision and notes like it follow your choice from then on.</a:t>
            </a:r>
            <a:endParaRPr lang="en-US" sz="1600" dirty="0"/>
          </a:p>
        </p:txBody>
      </p:sp>
      <p:sp>
        <p:nvSpPr>
          <p:cNvPr id="5" name="Text 2"/>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When two devices disagree</a:t>
            </a:r>
            <a:endParaRPr lang="en-US" sz="3600" dirty="0"/>
          </a:p>
        </p:txBody>
      </p:sp>
      <p:sp>
        <p:nvSpPr>
          <p:cNvPr id="3" name="Shape 1"/>
          <p:cNvSpPr/>
          <p:nvPr/>
        </p:nvSpPr>
        <p:spPr>
          <a:xfrm>
            <a:off x="640080" y="1801368"/>
            <a:ext cx="457200" cy="457200"/>
          </a:xfrm>
          <a:prstGeom prst="ellipse">
            <a:avLst/>
          </a:prstGeom>
          <a:solidFill>
            <a:srgbClr val="C2410C"/>
          </a:solidFill>
          <a:ln w="12700">
            <a:solidFill>
              <a:srgbClr val="C2410C"/>
            </a:solidFill>
            <a:prstDash val="solid"/>
          </a:ln>
        </p:spPr>
      </p:sp>
      <p:sp>
        <p:nvSpPr>
          <p:cNvPr id="4" name="Text 2"/>
          <p:cNvSpPr txBox="1"/>
          <p:nvPr/>
        </p:nvSpPr>
        <p:spPr>
          <a:xfrm>
            <a:off x="640080" y="18013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 name="Text 3"/>
          <p:cNvSpPr txBox="1"/>
          <p:nvPr/>
        </p:nvSpPr>
        <p:spPr>
          <a:xfrm>
            <a:off x="1325880" y="17830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Nothing is overwritten</a:t>
            </a:r>
            <a:endParaRPr lang="en-US" sz="2000" dirty="0"/>
          </a:p>
        </p:txBody>
      </p:sp>
      <p:sp>
        <p:nvSpPr>
          <p:cNvPr id="6" name="Text 4"/>
          <p:cNvSpPr txBox="1"/>
          <p:nvPr/>
        </p:nvSpPr>
        <p:spPr>
          <a:xfrm>
            <a:off x="1325880" y="22402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An upload only lands if the cloud is still at the version the device last saw. An edit made mid-upload is rebased, not lost.</a:t>
            </a:r>
            <a:endParaRPr lang="en-US" sz="1600" dirty="0"/>
          </a:p>
        </p:txBody>
      </p:sp>
      <p:sp>
        <p:nvSpPr>
          <p:cNvPr id="7" name="Shape 5"/>
          <p:cNvSpPr/>
          <p:nvPr/>
        </p:nvSpPr>
        <p:spPr>
          <a:xfrm>
            <a:off x="640080" y="3172968"/>
            <a:ext cx="457200" cy="457200"/>
          </a:xfrm>
          <a:prstGeom prst="ellipse">
            <a:avLst/>
          </a:prstGeom>
          <a:solidFill>
            <a:srgbClr val="C2410C"/>
          </a:solidFill>
          <a:ln w="12700">
            <a:solidFill>
              <a:srgbClr val="C2410C"/>
            </a:solidFill>
            <a:prstDash val="solid"/>
          </a:ln>
        </p:spPr>
      </p:sp>
      <p:sp>
        <p:nvSpPr>
          <p:cNvPr id="8" name="Text 6"/>
          <p:cNvSpPr txBox="1"/>
          <p:nvPr/>
        </p:nvSpPr>
        <p:spPr>
          <a:xfrm>
            <a:off x="640080" y="31729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txBox="1"/>
          <p:nvPr/>
        </p:nvSpPr>
        <p:spPr>
          <a:xfrm>
            <a:off x="1325880" y="31546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Most edits merge</a:t>
            </a:r>
            <a:endParaRPr lang="en-US" sz="2000" dirty="0"/>
          </a:p>
        </p:txBody>
      </p:sp>
      <p:sp>
        <p:nvSpPr>
          <p:cNvPr id="10" name="Text 8"/>
          <p:cNvSpPr txBox="1"/>
          <p:nvPr/>
        </p:nvSpPr>
        <p:spPr>
          <a:xfrm>
            <a:off x="1325880" y="36118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Changes to different fields combine automatically.</a:t>
            </a:r>
            <a:endParaRPr lang="en-US" sz="1600" dirty="0"/>
          </a:p>
        </p:txBody>
      </p:sp>
      <p:sp>
        <p:nvSpPr>
          <p:cNvPr id="11" name="Shape 9"/>
          <p:cNvSpPr/>
          <p:nvPr/>
        </p:nvSpPr>
        <p:spPr>
          <a:xfrm>
            <a:off x="640080" y="4544568"/>
            <a:ext cx="457200" cy="457200"/>
          </a:xfrm>
          <a:prstGeom prst="ellipse">
            <a:avLst/>
          </a:prstGeom>
          <a:solidFill>
            <a:srgbClr val="C2410C"/>
          </a:solidFill>
          <a:ln w="12700">
            <a:solidFill>
              <a:srgbClr val="C2410C"/>
            </a:solidFill>
            <a:prstDash val="solid"/>
          </a:ln>
        </p:spPr>
      </p:sp>
      <p:sp>
        <p:nvSpPr>
          <p:cNvPr id="12" name="Text 10"/>
          <p:cNvSpPr txBox="1"/>
          <p:nvPr/>
        </p:nvSpPr>
        <p:spPr>
          <a:xfrm>
            <a:off x="640080" y="45445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3" name="Text 11"/>
          <p:cNvSpPr txBox="1"/>
          <p:nvPr/>
        </p:nvSpPr>
        <p:spPr>
          <a:xfrm>
            <a:off x="1325880" y="45262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A person settles the rest</a:t>
            </a:r>
            <a:endParaRPr lang="en-US" sz="2000" dirty="0"/>
          </a:p>
        </p:txBody>
      </p:sp>
      <p:sp>
        <p:nvSpPr>
          <p:cNvPr id="14" name="Text 12"/>
          <p:cNvSpPr txBox="1"/>
          <p:nvPr/>
        </p:nvSpPr>
        <p:spPr>
          <a:xfrm>
            <a:off x="1325880" y="49834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Keep mine, accept theirs, keep both or combine. Even while offline. One click stages a conflict for the demo.</a:t>
            </a:r>
            <a:endParaRPr lang="en-US" sz="1600" dirty="0"/>
          </a:p>
        </p:txBody>
      </p:sp>
      <p:sp>
        <p:nvSpPr>
          <p:cNvPr id="15" name="Shape 13"/>
          <p:cNvSpPr/>
          <p:nvPr/>
        </p:nvSpPr>
        <p:spPr>
          <a:xfrm>
            <a:off x="4965192" y="1764792"/>
            <a:ext cx="6601968" cy="4139946"/>
          </a:xfrm>
          <a:prstGeom prst="rect">
            <a:avLst/>
          </a:prstGeom>
          <a:solidFill>
            <a:srgbClr val="FFFFFF"/>
          </a:solidFill>
          <a:ln w="9525">
            <a:solidFill>
              <a:srgbClr val="D9D9D4"/>
            </a:solidFill>
            <a:prstDash val="solid"/>
          </a:ln>
          <a:effectLst>
            <a:outerShdw sx="100000" sy="100000" kx="0" ky="0" algn="bl" rotWithShape="0" blurRad="152400" dist="38100" dir="5400000">
              <a:srgbClr val="000000">
                <a:alpha val="18000"/>
              </a:srgbClr>
            </a:outerShdw>
          </a:effectLst>
        </p:spPr>
      </p:sp>
      <p:sp>
        <p:nvSpPr>
          <p:cNvPr id="17" name="Text 14"/>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06</a:t>
            </a:r>
            <a:endParaRPr lang="en-US" sz="1100" dirty="0"/>
          </a:p>
        </p:txBody>
      </p:sp>
      <p:pic>
        <p:nvPicPr>
          <p:cNvPr id="18" name="Picture 17" descr="conflict.png"/>
          <p:cNvPicPr>
            <a:picLocks noChangeAspect="1"/>
          </p:cNvPicPr>
          <p:nvPr/>
        </p:nvPicPr>
        <p:blipFill>
          <a:blip r:embed="rId4"/>
          <a:stretch>
            <a:fillRect/>
          </a:stretch>
        </p:blipFill>
        <p:spPr>
          <a:xfrm>
            <a:off x="4983480" y="1783080"/>
            <a:ext cx="6565392" cy="410337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What Qdrant does for us</a:t>
            </a:r>
            <a:endParaRPr lang="en-US" sz="3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3840480"/>
                <a:gridCol w="7068312"/>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Qdrant feature</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How FieldMind uses it</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Edge shards, in process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Three per device: local notes, a cloud replica, and photos with a CLIP vector each</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Built-in BM25 with IDF</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Keyword half of hybrid search, with no server</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Dense vectors and filters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Meaning search narrowed by asset, scope and status; photos found by what they show</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Shard snapshots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A device far behind restores its replica from one file</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Conditional upsert and payload overwrite</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Compare and swap, so devices never clobber each other; payload-only patches skip the vectors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One schema on both sides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The same dense and sparse vectors on edge and server, versioned payloads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4" name="Text 1"/>
          <p:cNvSpPr txBox="1"/>
          <p:nvPr/>
        </p:nvSpPr>
        <p:spPr>
          <a:xfrm>
            <a:off x="640080" y="5806440"/>
            <a:ext cx="7315200" cy="274320"/>
          </a:xfrm>
          <a:prstGeom prst="rect">
            <a:avLst/>
          </a:prstGeom>
          <a:noFill/>
          <a:ln/>
        </p:spPr>
        <p:txBody>
          <a:bodyPr wrap="square" lIns="0" tIns="0" rIns="0" bIns="0" rtlCol="0" anchor="t"/>
          <a:lstStyle/>
          <a:p>
            <a:pPr indent="0" marL="0">
              <a:buNone/>
            </a:pPr>
            <a:r>
              <a:rPr lang="en-US" sz="1200" dirty="0">
                <a:solidFill>
                  <a:srgbClr val="5F5C54"/>
                </a:solidFill>
                <a:latin typeface="Courier New" pitchFamily="34" charset="0"/>
                <a:ea typeface="Courier New" pitchFamily="34" charset="-122"/>
                <a:cs typeface="Courier New" pitchFamily="34" charset="-120"/>
              </a:rPr>
              <a:t>qdrant-edge-py 0.8.0 with Qdrant Server 1.19.2, pinned and tested in CI</a:t>
            </a:r>
            <a:endParaRPr lang="en-US" sz="1200" dirty="0"/>
          </a:p>
        </p:txBody>
      </p:sp>
      <p:sp>
        <p:nvSpPr>
          <p:cNvPr id="5" name="Text 2"/>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Measured, not estimated</a:t>
            </a:r>
            <a:endParaRPr lang="en-US" sz="3600" dirty="0"/>
          </a:p>
        </p:txBody>
      </p:sp>
      <p:sp>
        <p:nvSpPr>
          <p:cNvPr id="3" name="Shape 1"/>
          <p:cNvSpPr/>
          <p:nvPr/>
        </p:nvSpPr>
        <p:spPr>
          <a:xfrm>
            <a:off x="640080" y="1691640"/>
            <a:ext cx="3419856" cy="1874520"/>
          </a:xfrm>
          <a:prstGeom prst="roundRect">
            <a:avLst>
              <a:gd name="adj" fmla="val 5854"/>
            </a:avLst>
          </a:prstGeom>
          <a:solidFill>
            <a:srgbClr val="F3F4F2"/>
          </a:solidFill>
          <a:ln w="12700">
            <a:solidFill>
              <a:srgbClr val="F3F4F2"/>
            </a:solidFill>
            <a:prstDash val="solid"/>
          </a:ln>
        </p:spPr>
      </p:sp>
      <p:sp>
        <p:nvSpPr>
          <p:cNvPr id="4" name="Text 2"/>
          <p:cNvSpPr txBox="1"/>
          <p:nvPr/>
        </p:nvSpPr>
        <p:spPr>
          <a:xfrm>
            <a:off x="960120" y="187452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1 ms</a:t>
            </a:r>
            <a:endParaRPr lang="en-US" sz="5400" dirty="0"/>
          </a:p>
        </p:txBody>
      </p:sp>
      <p:sp>
        <p:nvSpPr>
          <p:cNvPr id="5" name="Text 3"/>
          <p:cNvSpPr txBox="1"/>
          <p:nvPr/>
        </p:nvSpPr>
        <p:spPr>
          <a:xfrm>
            <a:off x="960120" y="288036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hybrid search across both shards</a:t>
            </a:r>
            <a:endParaRPr lang="en-US" sz="1600" dirty="0"/>
          </a:p>
        </p:txBody>
      </p:sp>
      <p:sp>
        <p:nvSpPr>
          <p:cNvPr id="6" name="Shape 4"/>
          <p:cNvSpPr/>
          <p:nvPr/>
        </p:nvSpPr>
        <p:spPr>
          <a:xfrm>
            <a:off x="4384548" y="1691640"/>
            <a:ext cx="3419856" cy="1874520"/>
          </a:xfrm>
          <a:prstGeom prst="roundRect">
            <a:avLst>
              <a:gd name="adj" fmla="val 5854"/>
            </a:avLst>
          </a:prstGeom>
          <a:solidFill>
            <a:srgbClr val="F3F4F2"/>
          </a:solidFill>
          <a:ln w="12700">
            <a:solidFill>
              <a:srgbClr val="F3F4F2"/>
            </a:solidFill>
            <a:prstDash val="solid"/>
          </a:ln>
        </p:spPr>
      </p:sp>
      <p:sp>
        <p:nvSpPr>
          <p:cNvPr id="7" name="Text 5"/>
          <p:cNvSpPr txBox="1"/>
          <p:nvPr/>
        </p:nvSpPr>
        <p:spPr>
          <a:xfrm>
            <a:off x="4704588" y="187452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0</a:t>
            </a:r>
            <a:endParaRPr lang="en-US" sz="5400" dirty="0"/>
          </a:p>
        </p:txBody>
      </p:sp>
      <p:sp>
        <p:nvSpPr>
          <p:cNvPr id="8" name="Text 6"/>
          <p:cNvSpPr txBox="1"/>
          <p:nvPr/>
        </p:nvSpPr>
        <p:spPr>
          <a:xfrm>
            <a:off x="4704588" y="288036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network calls to search, answer or find a photo</a:t>
            </a:r>
            <a:endParaRPr lang="en-US" sz="1600" dirty="0"/>
          </a:p>
        </p:txBody>
      </p:sp>
      <p:sp>
        <p:nvSpPr>
          <p:cNvPr id="9" name="Shape 7"/>
          <p:cNvSpPr/>
          <p:nvPr/>
        </p:nvSpPr>
        <p:spPr>
          <a:xfrm>
            <a:off x="8129016" y="1691640"/>
            <a:ext cx="3419856" cy="1874520"/>
          </a:xfrm>
          <a:prstGeom prst="roundRect">
            <a:avLst>
              <a:gd name="adj" fmla="val 5854"/>
            </a:avLst>
          </a:prstGeom>
          <a:solidFill>
            <a:srgbClr val="F3F4F2"/>
          </a:solidFill>
          <a:ln w="12700">
            <a:solidFill>
              <a:srgbClr val="F3F4F2"/>
            </a:solidFill>
            <a:prstDash val="solid"/>
          </a:ln>
        </p:spPr>
      </p:sp>
      <p:sp>
        <p:nvSpPr>
          <p:cNvPr id="10" name="Text 8"/>
          <p:cNvSpPr txBox="1"/>
          <p:nvPr/>
        </p:nvSpPr>
        <p:spPr>
          <a:xfrm>
            <a:off x="8449056" y="187452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20 ms</a:t>
            </a:r>
            <a:endParaRPr lang="en-US" sz="5400" dirty="0"/>
          </a:p>
        </p:txBody>
      </p:sp>
      <p:sp>
        <p:nvSpPr>
          <p:cNvPr id="11" name="Text 9"/>
          <p:cNvSpPr txBox="1"/>
          <p:nvPr/>
        </p:nvSpPr>
        <p:spPr>
          <a:xfrm>
            <a:off x="8449056" y="288036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to decide what may leave the device</a:t>
            </a:r>
            <a:endParaRPr lang="en-US" sz="1600" dirty="0"/>
          </a:p>
        </p:txBody>
      </p:sp>
      <p:sp>
        <p:nvSpPr>
          <p:cNvPr id="12" name="Shape 10"/>
          <p:cNvSpPr/>
          <p:nvPr/>
        </p:nvSpPr>
        <p:spPr>
          <a:xfrm>
            <a:off x="640080" y="3840480"/>
            <a:ext cx="3419856" cy="1874520"/>
          </a:xfrm>
          <a:prstGeom prst="roundRect">
            <a:avLst>
              <a:gd name="adj" fmla="val 5854"/>
            </a:avLst>
          </a:prstGeom>
          <a:solidFill>
            <a:srgbClr val="F3F4F2"/>
          </a:solidFill>
          <a:ln w="12700">
            <a:solidFill>
              <a:srgbClr val="F3F4F2"/>
            </a:solidFill>
            <a:prstDash val="solid"/>
          </a:ln>
        </p:spPr>
      </p:sp>
      <p:sp>
        <p:nvSpPr>
          <p:cNvPr id="13" name="Text 11"/>
          <p:cNvSpPr txBox="1"/>
          <p:nvPr/>
        </p:nvSpPr>
        <p:spPr>
          <a:xfrm>
            <a:off x="960120" y="402336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1–3 s</a:t>
            </a:r>
            <a:endParaRPr lang="en-US" sz="5400" dirty="0"/>
          </a:p>
        </p:txBody>
      </p:sp>
      <p:sp>
        <p:nvSpPr>
          <p:cNvPr id="14" name="Text 12"/>
          <p:cNvSpPr txBox="1"/>
          <p:nvPr/>
        </p:nvSpPr>
        <p:spPr>
          <a:xfrm>
            <a:off x="960120" y="502920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for a cited answer from a 3B model</a:t>
            </a:r>
            <a:endParaRPr lang="en-US" sz="1600" dirty="0"/>
          </a:p>
        </p:txBody>
      </p:sp>
      <p:sp>
        <p:nvSpPr>
          <p:cNvPr id="15" name="Shape 13"/>
          <p:cNvSpPr/>
          <p:nvPr/>
        </p:nvSpPr>
        <p:spPr>
          <a:xfrm>
            <a:off x="4384548" y="3840480"/>
            <a:ext cx="3419856" cy="1874520"/>
          </a:xfrm>
          <a:prstGeom prst="roundRect">
            <a:avLst>
              <a:gd name="adj" fmla="val 5854"/>
            </a:avLst>
          </a:prstGeom>
          <a:solidFill>
            <a:srgbClr val="F3F4F2"/>
          </a:solidFill>
          <a:ln w="12700">
            <a:solidFill>
              <a:srgbClr val="F3F4F2"/>
            </a:solidFill>
            <a:prstDash val="solid"/>
          </a:ln>
        </p:spPr>
      </p:sp>
      <p:sp>
        <p:nvSpPr>
          <p:cNvPr id="16" name="Text 14"/>
          <p:cNvSpPr txBox="1"/>
          <p:nvPr/>
        </p:nvSpPr>
        <p:spPr>
          <a:xfrm>
            <a:off x="4704588" y="402336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106</a:t>
            </a:r>
            <a:endParaRPr lang="en-US" sz="5400" dirty="0"/>
          </a:p>
        </p:txBody>
      </p:sp>
      <p:sp>
        <p:nvSpPr>
          <p:cNvPr id="17" name="Text 15"/>
          <p:cNvSpPr txBox="1"/>
          <p:nvPr/>
        </p:nvSpPr>
        <p:spPr>
          <a:xfrm>
            <a:off x="4704588" y="502920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tests on every push: two devices, a real Qdrant Server, a real browser</a:t>
            </a:r>
            <a:endParaRPr lang="en-US" sz="1600" dirty="0"/>
          </a:p>
        </p:txBody>
      </p:sp>
      <p:sp>
        <p:nvSpPr>
          <p:cNvPr id="18" name="Shape 16"/>
          <p:cNvSpPr/>
          <p:nvPr/>
        </p:nvSpPr>
        <p:spPr>
          <a:xfrm>
            <a:off x="8129016" y="3840480"/>
            <a:ext cx="3419856" cy="1874520"/>
          </a:xfrm>
          <a:prstGeom prst="roundRect">
            <a:avLst>
              <a:gd name="adj" fmla="val 5854"/>
            </a:avLst>
          </a:prstGeom>
          <a:solidFill>
            <a:srgbClr val="F3F4F2"/>
          </a:solidFill>
          <a:ln w="12700">
            <a:solidFill>
              <a:srgbClr val="F3F4F2"/>
            </a:solidFill>
            <a:prstDash val="solid"/>
          </a:ln>
        </p:spPr>
      </p:sp>
      <p:sp>
        <p:nvSpPr>
          <p:cNvPr id="19" name="Text 17"/>
          <p:cNvSpPr txBox="1"/>
          <p:nvPr/>
        </p:nvSpPr>
        <p:spPr>
          <a:xfrm>
            <a:off x="8449056" y="402336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30</a:t>
            </a:r>
            <a:endParaRPr lang="en-US" sz="5400" dirty="0"/>
          </a:p>
        </p:txBody>
      </p:sp>
      <p:sp>
        <p:nvSpPr>
          <p:cNvPr id="20" name="Text 18"/>
          <p:cNvSpPr txBox="1"/>
          <p:nvPr/>
        </p:nvSpPr>
        <p:spPr>
          <a:xfrm>
            <a:off x="8449056" y="502920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checks in the live end-to-end run</a:t>
            </a:r>
            <a:endParaRPr lang="en-US" sz="1600" dirty="0"/>
          </a:p>
        </p:txBody>
      </p:sp>
      <p:sp>
        <p:nvSpPr>
          <p:cNvPr id="21" name="Text 19"/>
          <p:cNvSpPr txBox="1"/>
          <p:nvPr/>
        </p:nvSpPr>
        <p:spPr>
          <a:xfrm>
            <a:off x="640080" y="5989320"/>
            <a:ext cx="9601200" cy="274320"/>
          </a:xfrm>
          <a:prstGeom prst="rect">
            <a:avLst/>
          </a:prstGeom>
          <a:noFill/>
          <a:ln/>
        </p:spPr>
        <p:txBody>
          <a:bodyPr wrap="square" lIns="0" tIns="0" rIns="0" bIns="0" rtlCol="0" anchor="t"/>
          <a:lstStyle/>
          <a:p>
            <a:pPr indent="0" marL="0">
              <a:buNone/>
            </a:pPr>
            <a:r>
              <a:rPr lang="en-US" sz="1200" dirty="0">
                <a:solidFill>
                  <a:srgbClr val="5F5C54"/>
                </a:solidFill>
                <a:latin typeface="Calibri" pitchFamily="34" charset="0"/>
                <a:ea typeface="Calibri" pitchFamily="34" charset="-122"/>
                <a:cs typeface="Calibri" pitchFamily="34" charset="-120"/>
              </a:rPr>
              <a:t>Ryzen 7 7435HS laptop, RTX 3050 4 GB. Also verified on Linux through a real network disconnect, and on arm64.</a:t>
            </a:r>
            <a:endParaRPr lang="en-US" sz="1200" dirty="0"/>
          </a:p>
        </p:txBody>
      </p:sp>
      <p:sp>
        <p:nvSpPr>
          <p:cNvPr id="22" name="Text 20"/>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714"/>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Five moments in the demo</a:t>
            </a:r>
            <a:endParaRPr lang="en-US" sz="3600" dirty="0"/>
          </a:p>
        </p:txBody>
      </p:sp>
      <p:sp>
        <p:nvSpPr>
          <p:cNvPr id="3" name="Shape 1"/>
          <p:cNvSpPr/>
          <p:nvPr/>
        </p:nvSpPr>
        <p:spPr>
          <a:xfrm>
            <a:off x="640080" y="1783080"/>
            <a:ext cx="457200" cy="457200"/>
          </a:xfrm>
          <a:prstGeom prst="ellipse">
            <a:avLst/>
          </a:prstGeom>
          <a:solidFill>
            <a:srgbClr val="C2410C"/>
          </a:solidFill>
          <a:ln w="12700">
            <a:solidFill>
              <a:srgbClr val="C2410C"/>
            </a:solidFill>
            <a:prstDash val="solid"/>
          </a:ln>
        </p:spPr>
      </p:sp>
      <p:sp>
        <p:nvSpPr>
          <p:cNvPr id="4" name="Text 2"/>
          <p:cNvSpPr txBox="1"/>
          <p:nvPr/>
        </p:nvSpPr>
        <p:spPr>
          <a:xfrm>
            <a:off x="640080" y="17830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 name="Text 3"/>
          <p:cNvSpPr txBox="1"/>
          <p:nvPr/>
        </p:nvSpPr>
        <p:spPr>
          <a:xfrm>
            <a:off x="1371600" y="178308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Switch the network off and keep working</a:t>
            </a:r>
            <a:endParaRPr lang="en-US" sz="2200" dirty="0"/>
          </a:p>
        </p:txBody>
      </p:sp>
      <p:sp>
        <p:nvSpPr>
          <p:cNvPr id="6" name="Shape 4"/>
          <p:cNvSpPr/>
          <p:nvPr/>
        </p:nvSpPr>
        <p:spPr>
          <a:xfrm>
            <a:off x="640080" y="2560320"/>
            <a:ext cx="457200" cy="457200"/>
          </a:xfrm>
          <a:prstGeom prst="ellipse">
            <a:avLst/>
          </a:prstGeom>
          <a:solidFill>
            <a:srgbClr val="C2410C"/>
          </a:solidFill>
          <a:ln w="12700">
            <a:solidFill>
              <a:srgbClr val="C2410C"/>
            </a:solidFill>
            <a:prstDash val="solid"/>
          </a:ln>
        </p:spPr>
      </p:sp>
      <p:sp>
        <p:nvSpPr>
          <p:cNvPr id="7" name="Text 5"/>
          <p:cNvSpPr txBox="1"/>
          <p:nvPr/>
        </p:nvSpPr>
        <p:spPr>
          <a:xfrm>
            <a:off x="640080" y="2560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8" name="Text 6"/>
          <p:cNvSpPr txBox="1"/>
          <p:nvPr/>
        </p:nvSpPr>
        <p:spPr>
          <a:xfrm>
            <a:off x="1371600" y="256032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Ask a question, get a cited answer</a:t>
            </a:r>
            <a:endParaRPr lang="en-US" sz="2200" dirty="0"/>
          </a:p>
        </p:txBody>
      </p:sp>
      <p:sp>
        <p:nvSpPr>
          <p:cNvPr id="9" name="Shape 7"/>
          <p:cNvSpPr/>
          <p:nvPr/>
        </p:nvSpPr>
        <p:spPr>
          <a:xfrm>
            <a:off x="640080" y="3337560"/>
            <a:ext cx="457200" cy="457200"/>
          </a:xfrm>
          <a:prstGeom prst="ellipse">
            <a:avLst/>
          </a:prstGeom>
          <a:solidFill>
            <a:srgbClr val="C2410C"/>
          </a:solidFill>
          <a:ln w="12700">
            <a:solidFill>
              <a:srgbClr val="C2410C"/>
            </a:solidFill>
            <a:prstDash val="solid"/>
          </a:ln>
        </p:spPr>
      </p:sp>
      <p:sp>
        <p:nvSpPr>
          <p:cNvPr id="10" name="Text 8"/>
          <p:cNvSpPr txBox="1"/>
          <p:nvPr/>
        </p:nvSpPr>
        <p:spPr>
          <a:xfrm>
            <a:off x="640080" y="3337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1" name="Text 9"/>
          <p:cNvSpPr txBox="1"/>
          <p:nvPr/>
        </p:nvSpPr>
        <p:spPr>
          <a:xfrm>
            <a:off x="1371600" y="333756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Watch names get masked before upload</a:t>
            </a:r>
            <a:endParaRPr lang="en-US" sz="2200" dirty="0"/>
          </a:p>
        </p:txBody>
      </p:sp>
      <p:sp>
        <p:nvSpPr>
          <p:cNvPr id="12" name="Shape 10"/>
          <p:cNvSpPr/>
          <p:nvPr/>
        </p:nvSpPr>
        <p:spPr>
          <a:xfrm>
            <a:off x="640080" y="4114800"/>
            <a:ext cx="457200" cy="457200"/>
          </a:xfrm>
          <a:prstGeom prst="ellipse">
            <a:avLst/>
          </a:prstGeom>
          <a:solidFill>
            <a:srgbClr val="C2410C"/>
          </a:solidFill>
          <a:ln w="12700">
            <a:solidFill>
              <a:srgbClr val="C2410C"/>
            </a:solidFill>
            <a:prstDash val="solid"/>
          </a:ln>
        </p:spPr>
      </p:sp>
      <p:sp>
        <p:nvSpPr>
          <p:cNvPr id="13" name="Text 11"/>
          <p:cNvSpPr txBox="1"/>
          <p:nvPr/>
        </p:nvSpPr>
        <p:spPr>
          <a:xfrm>
            <a:off x="640080" y="4114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4" name="Text 12"/>
          <p:cNvSpPr txBox="1"/>
          <p:nvPr/>
        </p:nvSpPr>
        <p:spPr>
          <a:xfrm>
            <a:off x="1371600" y="411480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Reconnect: urgent notes go first</a:t>
            </a:r>
            <a:endParaRPr lang="en-US" sz="2200" dirty="0"/>
          </a:p>
        </p:txBody>
      </p:sp>
      <p:sp>
        <p:nvSpPr>
          <p:cNvPr id="15" name="Shape 13"/>
          <p:cNvSpPr/>
          <p:nvPr/>
        </p:nvSpPr>
        <p:spPr>
          <a:xfrm>
            <a:off x="640080" y="4892040"/>
            <a:ext cx="457200" cy="457200"/>
          </a:xfrm>
          <a:prstGeom prst="ellipse">
            <a:avLst/>
          </a:prstGeom>
          <a:solidFill>
            <a:srgbClr val="C2410C"/>
          </a:solidFill>
          <a:ln w="12700">
            <a:solidFill>
              <a:srgbClr val="C2410C"/>
            </a:solidFill>
            <a:prstDash val="solid"/>
          </a:ln>
        </p:spPr>
      </p:sp>
      <p:sp>
        <p:nvSpPr>
          <p:cNvPr id="16" name="Text 14"/>
          <p:cNvSpPr txBox="1"/>
          <p:nvPr/>
        </p:nvSpPr>
        <p:spPr>
          <a:xfrm>
            <a:off x="640080" y="48920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17" name="Text 15"/>
          <p:cNvSpPr txBox="1"/>
          <p:nvPr/>
        </p:nvSpPr>
        <p:spPr>
          <a:xfrm>
            <a:off x="1371600" y="489204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Two devices disagree, a person decides (one click to stage)</a:t>
            </a:r>
            <a:endParaRPr lang="en-US" sz="2200" dirty="0"/>
          </a:p>
        </p:txBody>
      </p:sp>
      <p:sp>
        <p:nvSpPr>
          <p:cNvPr id="18" name="Shape 16"/>
          <p:cNvSpPr/>
          <p:nvPr/>
        </p:nvSpPr>
        <p:spPr>
          <a:xfrm>
            <a:off x="7863840" y="1783080"/>
            <a:ext cx="3687775" cy="2971800"/>
          </a:xfrm>
          <a:prstGeom prst="roundRect">
            <a:avLst>
              <a:gd name="adj" fmla="val 3692"/>
            </a:avLst>
          </a:prstGeom>
          <a:solidFill>
            <a:srgbClr val="24251F"/>
          </a:solidFill>
          <a:ln w="12700">
            <a:solidFill>
              <a:srgbClr val="24251F"/>
            </a:solidFill>
            <a:prstDash val="solid"/>
          </a:ln>
        </p:spPr>
      </p:sp>
      <p:sp>
        <p:nvSpPr>
          <p:cNvPr id="19" name="Text 17"/>
          <p:cNvSpPr txBox="1"/>
          <p:nvPr/>
        </p:nvSpPr>
        <p:spPr>
          <a:xfrm>
            <a:off x="8229600" y="2057400"/>
            <a:ext cx="2956255" cy="365760"/>
          </a:xfrm>
          <a:prstGeom prst="rect">
            <a:avLst/>
          </a:prstGeom>
          <a:noFill/>
          <a:ln/>
        </p:spPr>
        <p:txBody>
          <a:bodyPr wrap="square" lIns="0" tIns="0" rIns="0" bIns="0" rtlCol="0" anchor="ctr"/>
          <a:lstStyle/>
          <a:p>
            <a:pPr indent="0" marL="0">
              <a:buNone/>
            </a:pPr>
            <a:r>
              <a:rPr lang="en-US" sz="1800" b="1" dirty="0">
                <a:solidFill>
                  <a:srgbClr val="F29A4A"/>
                </a:solidFill>
                <a:latin typeface="Arial" pitchFamily="34" charset="0"/>
                <a:ea typeface="Arial" pitchFamily="34" charset="-122"/>
                <a:cs typeface="Arial" pitchFamily="34" charset="-120"/>
              </a:rPr>
              <a:t>Also in the box</a:t>
            </a:r>
            <a:endParaRPr lang="en-US" sz="1800" dirty="0"/>
          </a:p>
        </p:txBody>
      </p:sp>
      <p:sp>
        <p:nvSpPr>
          <p:cNvPr id="20" name="Text 18"/>
          <p:cNvSpPr txBox="1"/>
          <p:nvPr/>
        </p:nvSpPr>
        <p:spPr>
          <a:xfrm>
            <a:off x="8229600" y="2651760"/>
            <a:ext cx="2956255" cy="182880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Private text sealed on disk</a:t>
            </a:r>
            <a:endParaRPr lang="en-US" sz="1700" dirty="0"/>
          </a:p>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Setup code claims the first PIN</a:t>
            </a:r>
            <a:endParaRPr lang="en-US" sz="1700" dirty="0"/>
          </a:p>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Devices learn from each other offline</a:t>
            </a:r>
            <a:endParaRPr lang="en-US" sz="1700" dirty="0"/>
          </a:p>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Photos searchable by what they show</a:t>
            </a:r>
            <a:endParaRPr lang="en-US" sz="1700" dirty="0"/>
          </a:p>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Encrypted backup to a new device</a:t>
            </a:r>
            <a:endParaRPr lang="en-US" sz="1700" dirty="0"/>
          </a:p>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Shift report, phone layout, dictation</a:t>
            </a:r>
            <a:endParaRPr lang="en-US" sz="1700" dirty="0"/>
          </a:p>
        </p:txBody>
      </p:sp>
      <p:sp>
        <p:nvSpPr>
          <p:cNvPr id="21" name="Text 19"/>
          <p:cNvSpPr txBox="1"/>
          <p:nvPr/>
        </p:nvSpPr>
        <p:spPr>
          <a:xfrm>
            <a:off x="640080" y="6263640"/>
            <a:ext cx="8229600" cy="274320"/>
          </a:xfrm>
          <a:prstGeom prst="rect">
            <a:avLst/>
          </a:prstGeom>
          <a:noFill/>
          <a:ln/>
        </p:spPr>
        <p:txBody>
          <a:bodyPr wrap="square" lIns="0" tIns="0" rIns="0" bIns="0" rtlCol="0" anchor="ctr"/>
          <a:lstStyle/>
          <a:p>
            <a:pPr indent="0" marL="0">
              <a:buNone/>
            </a:pPr>
            <a:r>
              <a:rPr lang="en-US" sz="1200" dirty="0">
                <a:solidFill>
                  <a:srgbClr val="9C998D"/>
                </a:solidFill>
                <a:latin typeface="Courier New" pitchFamily="34" charset="0"/>
                <a:ea typeface="Courier New" pitchFamily="34" charset="-122"/>
                <a:cs typeface="Courier New" pitchFamily="34" charset="-120"/>
              </a:rPr>
              <a:t>Team Compilers  ·  github.com/yabhinav1/fieldmind</a:t>
            </a:r>
            <a:endParaRPr lang="en-US" sz="1200" dirty="0"/>
          </a:p>
        </p:txBody>
      </p:sp>
      <p:sp>
        <p:nvSpPr>
          <p:cNvPr id="22" name="Text 20"/>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9C998D"/>
                </a:solidFill>
                <a:latin typeface="Courier New" pitchFamily="34" charset="0"/>
                <a:ea typeface="Courier New" pitchFamily="34" charset="-122"/>
                <a:cs typeface="Courier New" pitchFamily="34" charset="-120"/>
              </a:rPr>
              <a:t>09</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Team Compilers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FieldMind</dc:title>
  <dc:subject>PptxGenJS Presentation</dc:subject>
  <dc:creator>Team Compilers</dc:creator>
  <cp:lastModifiedBy>Team Compilers</cp:lastModifiedBy>
  <cp:revision>1</cp:revision>
  <dcterms:created xsi:type="dcterms:W3CDTF">2026-09-30T14:34:58Z</dcterms:created>
  <dcterms:modified xsi:type="dcterms:W3CDTF">2026-09-30T14:34:58Z</dcterms:modified>
</cp:coreProperties>
</file>